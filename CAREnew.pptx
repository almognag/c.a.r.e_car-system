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7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Arimo Bold" charset="1" panose="020B0704020202020204"/>
      <p:regular r:id="rId20"/>
    </p:embeddedFont>
    <p:embeddedFont>
      <p:font typeface="Arimo Italics" charset="1" panose="020B0604020202090204"/>
      <p:regular r:id="rId21"/>
    </p:embeddedFont>
    <p:embeddedFont>
      <p:font typeface="Arimo" charset="1" panose="020B0604020202020204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notesMasters/notesMaster1.xml" Type="http://schemas.openxmlformats.org/officeDocument/2006/relationships/notesMaster"/><Relationship Id="rId18" Target="theme/theme2.xml" Type="http://schemas.openxmlformats.org/officeDocument/2006/relationships/theme"/><Relationship Id="rId19" Target="notesSlides/notesSlide1.xml" Type="http://schemas.openxmlformats.org/officeDocument/2006/relationships/notes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notesSlides/notesSlide2.xml" Type="http://schemas.openxmlformats.org/officeDocument/2006/relationships/notesSlide"/><Relationship Id="rId24" Target="notesSlides/notesSlide3.xml" Type="http://schemas.openxmlformats.org/officeDocument/2006/relationships/notesSlide"/><Relationship Id="rId25" Target="notesSlides/notesSlide4.xml" Type="http://schemas.openxmlformats.org/officeDocument/2006/relationships/notesSlide"/><Relationship Id="rId26" Target="notesSlides/notesSlide5.xml" Type="http://schemas.openxmlformats.org/officeDocument/2006/relationships/notesSlide"/><Relationship Id="rId27" Target="notesSlides/notesSlide6.xml" Type="http://schemas.openxmlformats.org/officeDocument/2006/relationships/notesSlide"/><Relationship Id="rId28" Target="notesSlides/notesSlide7.xml" Type="http://schemas.openxmlformats.org/officeDocument/2006/relationships/notesSlide"/><Relationship Id="rId29" Target="notesSlides/notesSlide8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9.xml" Type="http://schemas.openxmlformats.org/officeDocument/2006/relationships/notesSlide"/><Relationship Id="rId31" Target="notesSlides/notesSlide10.xml" Type="http://schemas.openxmlformats.org/officeDocument/2006/relationships/notesSlide"/><Relationship Id="rId32" Target="notesSlides/notesSlide11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https://gamma.app/?utm_source=made-with-gamma" TargetMode="External" Type="http://schemas.openxmlformats.org/officeDocument/2006/relationships/hyperlink"/><Relationship Id="rId5" Target="../media/image2.png" Type="http://schemas.openxmlformats.org/officeDocument/2006/relationships/image"/><Relationship Id="rId6" Target="../media/image3.jpeg" Type="http://schemas.openxmlformats.org/officeDocument/2006/relationships/image"/><Relationship Id="rId7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Relationship Id="rId4" Target="https://gamma.app/?utm_source=made-with-gamma" TargetMode="External" Type="http://schemas.openxmlformats.org/officeDocument/2006/relationships/hyperlink"/><Relationship Id="rId5" Target="../media/image2.png" Type="http://schemas.openxmlformats.org/officeDocument/2006/relationships/image"/><Relationship Id="rId6" Target="../media/image4.png" Type="http://schemas.openxmlformats.org/officeDocument/2006/relationships/image"/><Relationship Id="rId7" Target="../media/image5.png" Type="http://schemas.openxmlformats.org/officeDocument/2006/relationships/image"/><Relationship Id="rId8" Target="../media/image6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Relationship Id="rId4" Target="https://gamma.app/?utm_source=made-with-gamma" TargetMode="External" Type="http://schemas.openxmlformats.org/officeDocument/2006/relationships/hyperlink"/><Relationship Id="rId5" Target="../media/image2.png" Type="http://schemas.openxmlformats.org/officeDocument/2006/relationships/image"/><Relationship Id="rId6" Target="../media/image7.jpeg" Type="http://schemas.openxmlformats.org/officeDocument/2006/relationships/image"/><Relationship Id="rId7" Target="../media/image4.png" Type="http://schemas.openxmlformats.org/officeDocument/2006/relationships/image"/><Relationship Id="rId8" Target="../media/image8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Relationship Id="rId4" Target="https://gamma.app/?utm_source=made-with-gamma" TargetMode="External" Type="http://schemas.openxmlformats.org/officeDocument/2006/relationships/hyperlink"/><Relationship Id="rId5" Target="../media/image2.png" Type="http://schemas.openxmlformats.org/officeDocument/2006/relationships/image"/><Relationship Id="rId6" Target="../media/image4.png" Type="http://schemas.openxmlformats.org/officeDocument/2006/relationships/image"/><Relationship Id="rId7" Target="../media/image9.png" Type="http://schemas.openxmlformats.org/officeDocument/2006/relationships/image"/><Relationship Id="rId8" Target="../media/image10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https://gamma.app/?utm_source=made-with-gamma" TargetMode="External" Type="http://schemas.openxmlformats.org/officeDocument/2006/relationships/hyperlink"/><Relationship Id="rId5" Target="../media/image2.png" Type="http://schemas.openxmlformats.org/officeDocument/2006/relationships/image"/><Relationship Id="rId6" Target="../media/image11.png" Type="http://schemas.openxmlformats.org/officeDocument/2006/relationships/image"/><Relationship Id="rId7" Target="../media/image4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4.png" Type="http://schemas.openxmlformats.org/officeDocument/2006/relationships/image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Relationship Id="rId4" Target="https://docs.google.com/presentation/d/1vOS8GX4lNJpu23BawIigWQBmRRlRLJu8/edit?usp=sharing&amp;ouid=105466671058208463286&amp;rtpof=true&amp;sd=true" TargetMode="External" Type="http://schemas.openxmlformats.org/officeDocument/2006/relationships/hyperlink"/><Relationship Id="rId5" Target="https://gamma.app/?utm_source=made-with-gamma" TargetMode="External" Type="http://schemas.openxmlformats.org/officeDocument/2006/relationships/hyperlink"/><Relationship Id="rId6" Target="../media/image2.png" Type="http://schemas.openxmlformats.org/officeDocument/2006/relationships/image"/><Relationship Id="rId7" Target="../media/image12.png" Type="http://schemas.openxmlformats.org/officeDocument/2006/relationships/image"/><Relationship Id="rId8" Target="../media/image4.png" Type="http://schemas.openxmlformats.org/officeDocument/2006/relationships/image"/><Relationship Id="rId9" Target="../media/image13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Relationship Id="rId4" Target="https://gamma.app/?utm_source=made-with-gamma" TargetMode="External" Type="http://schemas.openxmlformats.org/officeDocument/2006/relationships/hyperlink"/><Relationship Id="rId5" Target="../media/image2.png" Type="http://schemas.openxmlformats.org/officeDocument/2006/relationships/image"/><Relationship Id="rId6" Target="../media/image15.jpeg" Type="http://schemas.openxmlformats.org/officeDocument/2006/relationships/image"/><Relationship Id="rId7" Target="../media/image4.png" Type="http://schemas.openxmlformats.org/officeDocument/2006/relationships/image"/><Relationship Id="rId8" Target="../media/image1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https://gamma.app/?utm_source=made-with-gamma" TargetMode="External" Type="http://schemas.openxmlformats.org/officeDocument/2006/relationships/hyperlink"/><Relationship Id="rId5" Target="../media/image2.png" Type="http://schemas.openxmlformats.org/officeDocument/2006/relationships/image"/><Relationship Id="rId6" Target="../media/image4.png" Type="http://schemas.openxmlformats.org/officeDocument/2006/relationships/image"/><Relationship Id="rId7" Target="../media/image17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Relationship Id="rId4" Target="https://gamma.app/?utm_source=made-with-gamma" TargetMode="External" Type="http://schemas.openxmlformats.org/officeDocument/2006/relationships/hyperlink"/><Relationship Id="rId5" Target="../media/image2.png" Type="http://schemas.openxmlformats.org/officeDocument/2006/relationships/image"/><Relationship Id="rId6" Target="../media/image18.png" Type="http://schemas.openxmlformats.org/officeDocument/2006/relationships/image"/><Relationship Id="rId7" Target="../media/image4.png" Type="http://schemas.openxmlformats.org/officeDocument/2006/relationships/image"/><Relationship Id="rId8" Target="../media/image19.pn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21.png" Type="http://schemas.openxmlformats.org/officeDocument/2006/relationships/image"/><Relationship Id="rId4" Target="https://gamma.app/?utm_source=made-with-gamma" TargetMode="External" Type="http://schemas.openxmlformats.org/officeDocument/2006/relationships/hyperlink"/><Relationship Id="rId5" Target="../media/image2.png" Type="http://schemas.openxmlformats.org/officeDocument/2006/relationships/image"/><Relationship Id="rId6" Target="../media/image4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Relationship Id="rId4" Target="https://gamma.app/?utm_source=made-with-gamma" TargetMode="External" Type="http://schemas.openxmlformats.org/officeDocument/2006/relationships/hyperlink"/><Relationship Id="rId5" Target="../media/image2.png" Type="http://schemas.openxmlformats.org/officeDocument/2006/relationships/image"/><Relationship Id="rId6" Target="../media/image22.png" Type="http://schemas.openxmlformats.org/officeDocument/2006/relationships/image"/><Relationship Id="rId7" Target="../media/image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615315" y="9838487"/>
            <a:ext cx="1607763" cy="384048"/>
            <a:chOff x="0" y="0"/>
            <a:chExt cx="2143684" cy="512064"/>
          </a:xfrm>
        </p:grpSpPr>
        <p:sp>
          <p:nvSpPr>
            <p:cNvPr name="Freeform 7" id="7" descr="preencoded.png">
              <a:hlinkClick r:id="rId4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143633" cy="512064"/>
            </a:xfrm>
            <a:custGeom>
              <a:avLst/>
              <a:gdLst/>
              <a:ahLst/>
              <a:cxnLst/>
              <a:rect r="r" b="b" t="t" l="l"/>
              <a:pathLst>
                <a:path h="512064" w="2143633">
                  <a:moveTo>
                    <a:pt x="0" y="0"/>
                  </a:moveTo>
                  <a:lnTo>
                    <a:pt x="2143633" y="0"/>
                  </a:lnTo>
                  <a:lnTo>
                    <a:pt x="2143633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0"/>
            <a:ext cx="7200719" cy="10287000"/>
            <a:chOff x="0" y="0"/>
            <a:chExt cx="9600959" cy="13716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600946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600946">
                  <a:moveTo>
                    <a:pt x="0" y="0"/>
                  </a:moveTo>
                  <a:lnTo>
                    <a:pt x="9600946" y="0"/>
                  </a:lnTo>
                  <a:lnTo>
                    <a:pt x="9600946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" t="0" r="-1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7671140" y="2295201"/>
            <a:ext cx="9445285" cy="17446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552"/>
              </a:lnSpc>
            </a:pPr>
            <a:r>
              <a:rPr lang="en-US" b="true" sz="12000" spc="-110">
                <a:solidFill>
                  <a:srgbClr val="F2F5FA"/>
                </a:solidFill>
                <a:latin typeface="Arimo Bold"/>
                <a:ea typeface="Arimo Bold"/>
                <a:cs typeface="Arimo Bold"/>
                <a:sym typeface="Arimo Bold"/>
              </a:rPr>
              <a:t>C.A.R.E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850038" y="4041105"/>
            <a:ext cx="9445285" cy="5177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43"/>
              </a:lnSpc>
            </a:pPr>
            <a:r>
              <a:rPr lang="en-US" b="true" sz="4200" spc="-55">
                <a:solidFill>
                  <a:srgbClr val="38AFFF"/>
                </a:solidFill>
                <a:latin typeface="Arimo Bold"/>
                <a:ea typeface="Arimo Bold"/>
                <a:cs typeface="Arimo Bold"/>
                <a:sym typeface="Arimo Bold"/>
              </a:rPr>
              <a:t>Car Alert &amp; Reminder Eye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850038" y="4814602"/>
            <a:ext cx="9445285" cy="12804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88"/>
              </a:lnSpc>
            </a:pPr>
            <a:r>
              <a:rPr lang="en-US" sz="3000" i="true">
                <a:solidFill>
                  <a:srgbClr val="EBEDF0"/>
                </a:solidFill>
                <a:latin typeface="Arimo Italics"/>
                <a:ea typeface="Arimo Italics"/>
                <a:cs typeface="Arimo Italics"/>
                <a:sym typeface="Arimo Italics"/>
              </a:rPr>
              <a:t>An extra eye watching the back seat for you.</a:t>
            </a:r>
          </a:p>
          <a:p>
            <a:pPr algn="ctr">
              <a:lnSpc>
                <a:spcPts val="3888"/>
              </a:lnSpc>
            </a:pPr>
            <a:r>
              <a:rPr lang="en-US" sz="3000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Linoy Kasuker &amp; Almog Gabay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6468125" y="129626"/>
            <a:ext cx="1654407" cy="1840859"/>
            <a:chOff x="0" y="0"/>
            <a:chExt cx="2205876" cy="245447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05863" cy="2454529"/>
            </a:xfrm>
            <a:custGeom>
              <a:avLst/>
              <a:gdLst/>
              <a:ahLst/>
              <a:cxnLst/>
              <a:rect r="r" b="b" t="t" l="l"/>
              <a:pathLst>
                <a:path h="2454529" w="2205863">
                  <a:moveTo>
                    <a:pt x="0" y="0"/>
                  </a:moveTo>
                  <a:lnTo>
                    <a:pt x="2205863" y="0"/>
                  </a:lnTo>
                  <a:lnTo>
                    <a:pt x="2205863" y="2454529"/>
                  </a:lnTo>
                  <a:lnTo>
                    <a:pt x="0" y="2454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48087" t="0" r="-49729" b="1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16520379" y="9747218"/>
            <a:ext cx="1673457" cy="479669"/>
            <a:chOff x="0" y="0"/>
            <a:chExt cx="2231276" cy="63955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231263" cy="639572"/>
            </a:xfrm>
            <a:custGeom>
              <a:avLst/>
              <a:gdLst/>
              <a:ahLst/>
              <a:cxnLst/>
              <a:rect r="r" b="b" t="t" l="l"/>
              <a:pathLst>
                <a:path h="639572" w="2231263">
                  <a:moveTo>
                    <a:pt x="0" y="0"/>
                  </a:moveTo>
                  <a:lnTo>
                    <a:pt x="2231263" y="0"/>
                  </a:lnTo>
                  <a:lnTo>
                    <a:pt x="2231263" y="639572"/>
                  </a:lnTo>
                  <a:lnTo>
                    <a:pt x="0" y="639572"/>
                  </a:lnTo>
                  <a:close/>
                </a:path>
              </a:pathLst>
            </a:custGeom>
            <a:solidFill>
              <a:srgbClr val="101620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615315" y="9838487"/>
            <a:ext cx="1607763" cy="384048"/>
            <a:chOff x="0" y="0"/>
            <a:chExt cx="2143684" cy="512064"/>
          </a:xfrm>
        </p:grpSpPr>
        <p:sp>
          <p:nvSpPr>
            <p:cNvPr name="Freeform 7" id="7" descr="preencoded.png">
              <a:hlinkClick r:id="rId4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143633" cy="512064"/>
            </a:xfrm>
            <a:custGeom>
              <a:avLst/>
              <a:gdLst/>
              <a:ahLst/>
              <a:cxnLst/>
              <a:rect r="r" b="b" t="t" l="l"/>
              <a:pathLst>
                <a:path h="512064" w="2143633">
                  <a:moveTo>
                    <a:pt x="0" y="0"/>
                  </a:moveTo>
                  <a:lnTo>
                    <a:pt x="2143633" y="0"/>
                  </a:lnTo>
                  <a:lnTo>
                    <a:pt x="2143633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92210" y="1653778"/>
            <a:ext cx="16303114" cy="1376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914"/>
              </a:lnSpc>
            </a:pPr>
            <a:r>
              <a:rPr lang="en-US" b="true" sz="7650" spc="-154">
                <a:solidFill>
                  <a:srgbClr val="38AFFF"/>
                </a:solidFill>
                <a:latin typeface="Arimo Bold"/>
                <a:ea typeface="Arimo Bold"/>
                <a:cs typeface="Arimo Bold"/>
                <a:sym typeface="Arimo Bold"/>
              </a:rPr>
              <a:t>THIS HAPPENED THIS MONTH.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35019" y="3231737"/>
            <a:ext cx="17217495" cy="406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10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Two incidents. Two weeks. One preventable danger</a:t>
            </a:r>
            <a:r>
              <a:rPr lang="en-US" sz="24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.</a:t>
            </a:r>
          </a:p>
          <a:p>
            <a:pPr algn="ctr">
              <a:lnSpc>
                <a:spcPts val="3110"/>
              </a:lnSpc>
            </a:pPr>
          </a:p>
        </p:txBody>
      </p:sp>
      <p:grpSp>
        <p:nvGrpSpPr>
          <p:cNvPr name="Group 10" id="10"/>
          <p:cNvGrpSpPr/>
          <p:nvPr/>
        </p:nvGrpSpPr>
        <p:grpSpPr>
          <a:xfrm rot="0">
            <a:off x="788022" y="4284612"/>
            <a:ext cx="8214065" cy="4442384"/>
            <a:chOff x="0" y="0"/>
            <a:chExt cx="10952086" cy="592317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51972" cy="5923153"/>
            </a:xfrm>
            <a:custGeom>
              <a:avLst/>
              <a:gdLst/>
              <a:ahLst/>
              <a:cxnLst/>
              <a:rect r="r" b="b" t="t" l="l"/>
              <a:pathLst>
                <a:path h="5923153" w="10951972">
                  <a:moveTo>
                    <a:pt x="0" y="420370"/>
                  </a:moveTo>
                  <a:cubicBezTo>
                    <a:pt x="0" y="188214"/>
                    <a:pt x="188214" y="0"/>
                    <a:pt x="420370" y="0"/>
                  </a:cubicBezTo>
                  <a:lnTo>
                    <a:pt x="10531602" y="0"/>
                  </a:lnTo>
                  <a:cubicBezTo>
                    <a:pt x="10763758" y="0"/>
                    <a:pt x="10951972" y="188214"/>
                    <a:pt x="10951972" y="420370"/>
                  </a:cubicBezTo>
                  <a:lnTo>
                    <a:pt x="10951972" y="5502783"/>
                  </a:lnTo>
                  <a:cubicBezTo>
                    <a:pt x="10951972" y="5734939"/>
                    <a:pt x="10763758" y="5923153"/>
                    <a:pt x="10531602" y="5923153"/>
                  </a:cubicBezTo>
                  <a:lnTo>
                    <a:pt x="420370" y="5923153"/>
                  </a:lnTo>
                  <a:cubicBezTo>
                    <a:pt x="188214" y="5923153"/>
                    <a:pt x="0" y="5734939"/>
                    <a:pt x="0" y="5502783"/>
                  </a:cubicBezTo>
                  <a:close/>
                </a:path>
              </a:pathLst>
            </a:custGeom>
            <a:solidFill>
              <a:srgbClr val="06182C">
                <a:alpha val="90196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071534" y="4603547"/>
            <a:ext cx="2078784" cy="430711"/>
            <a:chOff x="0" y="0"/>
            <a:chExt cx="2771712" cy="57428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771648" cy="574294"/>
            </a:xfrm>
            <a:custGeom>
              <a:avLst/>
              <a:gdLst/>
              <a:ahLst/>
              <a:cxnLst/>
              <a:rect r="r" b="b" t="t" l="l"/>
              <a:pathLst>
                <a:path h="574294" w="2771648">
                  <a:moveTo>
                    <a:pt x="0" y="127000"/>
                  </a:moveTo>
                  <a:cubicBezTo>
                    <a:pt x="0" y="56896"/>
                    <a:pt x="56896" y="0"/>
                    <a:pt x="127000" y="0"/>
                  </a:cubicBezTo>
                  <a:lnTo>
                    <a:pt x="2644648" y="0"/>
                  </a:lnTo>
                  <a:cubicBezTo>
                    <a:pt x="2714752" y="0"/>
                    <a:pt x="2771648" y="56896"/>
                    <a:pt x="2771648" y="127000"/>
                  </a:cubicBezTo>
                  <a:lnTo>
                    <a:pt x="2771648" y="447294"/>
                  </a:lnTo>
                  <a:cubicBezTo>
                    <a:pt x="2771648" y="517398"/>
                    <a:pt x="2714752" y="574294"/>
                    <a:pt x="2644648" y="574294"/>
                  </a:cubicBezTo>
                  <a:lnTo>
                    <a:pt x="127000" y="574294"/>
                  </a:lnTo>
                  <a:cubicBezTo>
                    <a:pt x="56896" y="574294"/>
                    <a:pt x="0" y="517398"/>
                    <a:pt x="0" y="447294"/>
                  </a:cubicBezTo>
                  <a:close/>
                </a:path>
              </a:pathLst>
            </a:custGeom>
            <a:solidFill>
              <a:srgbClr val="00194D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241641" y="4679004"/>
            <a:ext cx="2652941" cy="2702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7"/>
              </a:lnSpc>
            </a:pPr>
            <a:r>
              <a:rPr lang="en-US" sz="172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AUGUST 9, 2026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499168" y="4603547"/>
            <a:ext cx="2169414" cy="430711"/>
            <a:chOff x="0" y="0"/>
            <a:chExt cx="2892552" cy="574281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892552" cy="574294"/>
            </a:xfrm>
            <a:custGeom>
              <a:avLst/>
              <a:gdLst/>
              <a:ahLst/>
              <a:cxnLst/>
              <a:rect r="r" b="b" t="t" l="l"/>
              <a:pathLst>
                <a:path h="574294" w="2892552">
                  <a:moveTo>
                    <a:pt x="0" y="127000"/>
                  </a:moveTo>
                  <a:cubicBezTo>
                    <a:pt x="0" y="56896"/>
                    <a:pt x="56896" y="0"/>
                    <a:pt x="127000" y="0"/>
                  </a:cubicBezTo>
                  <a:lnTo>
                    <a:pt x="2765552" y="0"/>
                  </a:lnTo>
                  <a:cubicBezTo>
                    <a:pt x="2835656" y="0"/>
                    <a:pt x="2892552" y="56896"/>
                    <a:pt x="2892552" y="127000"/>
                  </a:cubicBezTo>
                  <a:lnTo>
                    <a:pt x="2892552" y="447294"/>
                  </a:lnTo>
                  <a:cubicBezTo>
                    <a:pt x="2892552" y="517398"/>
                    <a:pt x="2835656" y="574294"/>
                    <a:pt x="2765552" y="574294"/>
                  </a:cubicBezTo>
                  <a:lnTo>
                    <a:pt x="127000" y="574294"/>
                  </a:lnTo>
                  <a:cubicBezTo>
                    <a:pt x="56896" y="574294"/>
                    <a:pt x="0" y="517398"/>
                    <a:pt x="0" y="447294"/>
                  </a:cubicBezTo>
                  <a:close/>
                </a:path>
              </a:pathLst>
            </a:custGeom>
            <a:solidFill>
              <a:srgbClr val="00194D"/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9669266" y="4679004"/>
            <a:ext cx="2743581" cy="2702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7"/>
              </a:lnSpc>
            </a:pPr>
            <a:r>
              <a:rPr lang="en-US" sz="172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AUGUST 21, 2026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6468125" y="129626"/>
            <a:ext cx="1654407" cy="1840859"/>
            <a:chOff x="0" y="0"/>
            <a:chExt cx="2205876" cy="245447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05863" cy="2454529"/>
            </a:xfrm>
            <a:custGeom>
              <a:avLst/>
              <a:gdLst/>
              <a:ahLst/>
              <a:cxnLst/>
              <a:rect r="r" b="b" t="t" l="l"/>
              <a:pathLst>
                <a:path h="2454529" w="2205863">
                  <a:moveTo>
                    <a:pt x="0" y="0"/>
                  </a:moveTo>
                  <a:lnTo>
                    <a:pt x="2205863" y="0"/>
                  </a:lnTo>
                  <a:lnTo>
                    <a:pt x="2205863" y="2454529"/>
                  </a:lnTo>
                  <a:lnTo>
                    <a:pt x="0" y="2454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8087" t="0" r="-49729" b="1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6520379" y="9747218"/>
            <a:ext cx="1673457" cy="479669"/>
            <a:chOff x="0" y="0"/>
            <a:chExt cx="2231276" cy="63955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231263" cy="639572"/>
            </a:xfrm>
            <a:custGeom>
              <a:avLst/>
              <a:gdLst/>
              <a:ahLst/>
              <a:cxnLst/>
              <a:rect r="r" b="b" t="t" l="l"/>
              <a:pathLst>
                <a:path h="639572" w="2231263">
                  <a:moveTo>
                    <a:pt x="0" y="0"/>
                  </a:moveTo>
                  <a:lnTo>
                    <a:pt x="2231263" y="0"/>
                  </a:lnTo>
                  <a:lnTo>
                    <a:pt x="2231263" y="639572"/>
                  </a:lnTo>
                  <a:lnTo>
                    <a:pt x="0" y="639572"/>
                  </a:lnTo>
                  <a:close/>
                </a:path>
              </a:pathLst>
            </a:custGeom>
            <a:solidFill>
              <a:srgbClr val="101620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3320425" y="4588993"/>
            <a:ext cx="5434479" cy="3805018"/>
            <a:chOff x="0" y="0"/>
            <a:chExt cx="7245972" cy="507335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245985" cy="5073396"/>
            </a:xfrm>
            <a:custGeom>
              <a:avLst/>
              <a:gdLst/>
              <a:ahLst/>
              <a:cxnLst/>
              <a:rect r="r" b="b" t="t" l="l"/>
              <a:pathLst>
                <a:path h="5073396" w="7245985">
                  <a:moveTo>
                    <a:pt x="0" y="0"/>
                  </a:moveTo>
                  <a:lnTo>
                    <a:pt x="7245985" y="0"/>
                  </a:lnTo>
                  <a:lnTo>
                    <a:pt x="7245985" y="5073396"/>
                  </a:lnTo>
                  <a:lnTo>
                    <a:pt x="0" y="5073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9550413" y="5252742"/>
            <a:ext cx="7396115" cy="2810923"/>
            <a:chOff x="0" y="0"/>
            <a:chExt cx="9861486" cy="3747897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9861550" cy="3747897"/>
            </a:xfrm>
            <a:custGeom>
              <a:avLst/>
              <a:gdLst/>
              <a:ahLst/>
              <a:cxnLst/>
              <a:rect r="r" b="b" t="t" l="l"/>
              <a:pathLst>
                <a:path h="3747897" w="9861550">
                  <a:moveTo>
                    <a:pt x="0" y="0"/>
                  </a:moveTo>
                  <a:lnTo>
                    <a:pt x="9861550" y="0"/>
                  </a:lnTo>
                  <a:lnTo>
                    <a:pt x="9861550" y="3747897"/>
                  </a:lnTo>
                  <a:lnTo>
                    <a:pt x="0" y="37478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146152" y="8971998"/>
            <a:ext cx="17217495" cy="406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110"/>
              </a:lnSpc>
            </a:pPr>
            <a:r>
              <a:rPr lang="en-US" sz="24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This is </a:t>
            </a:r>
            <a:r>
              <a:rPr lang="en-US" sz="2400">
                <a:solidFill>
                  <a:srgbClr val="38AFFF"/>
                </a:solidFill>
                <a:latin typeface="Arimo"/>
                <a:ea typeface="Arimo"/>
                <a:cs typeface="Arimo"/>
                <a:sym typeface="Arimo"/>
              </a:rPr>
              <a:t>NOT</a:t>
            </a:r>
            <a:r>
              <a:rPr lang="en-US" sz="24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a problem from the past.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615315" y="9838487"/>
            <a:ext cx="1607763" cy="384048"/>
            <a:chOff x="0" y="0"/>
            <a:chExt cx="2143684" cy="512064"/>
          </a:xfrm>
        </p:grpSpPr>
        <p:sp>
          <p:nvSpPr>
            <p:cNvPr name="Freeform 7" id="7" descr="preencoded.png">
              <a:hlinkClick r:id="rId4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143633" cy="512064"/>
            </a:xfrm>
            <a:custGeom>
              <a:avLst/>
              <a:gdLst/>
              <a:ahLst/>
              <a:cxnLst/>
              <a:rect r="r" b="b" t="t" l="l"/>
              <a:pathLst>
                <a:path h="512064" w="2143633">
                  <a:moveTo>
                    <a:pt x="0" y="0"/>
                  </a:moveTo>
                  <a:lnTo>
                    <a:pt x="2143633" y="0"/>
                  </a:lnTo>
                  <a:lnTo>
                    <a:pt x="2143633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086824" y="0"/>
            <a:ext cx="7200719" cy="10287000"/>
            <a:chOff x="0" y="0"/>
            <a:chExt cx="9600959" cy="13716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600946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600946">
                  <a:moveTo>
                    <a:pt x="0" y="0"/>
                  </a:moveTo>
                  <a:lnTo>
                    <a:pt x="9600946" y="0"/>
                  </a:lnTo>
                  <a:lnTo>
                    <a:pt x="9600946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1" t="0" r="-1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992210" y="1149553"/>
            <a:ext cx="9445285" cy="13763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914"/>
              </a:lnSpc>
            </a:pPr>
            <a:r>
              <a:rPr lang="en-US" b="true" sz="7650" spc="-154">
                <a:solidFill>
                  <a:srgbClr val="38AFFF"/>
                </a:solidFill>
                <a:latin typeface="Arimo Bold"/>
                <a:ea typeface="Arimo Bold"/>
                <a:cs typeface="Arimo Bold"/>
                <a:sym typeface="Arimo Bold"/>
              </a:rPr>
              <a:t>MINUTES MATTER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77922" y="2936824"/>
            <a:ext cx="4609395" cy="3664591"/>
            <a:chOff x="0" y="0"/>
            <a:chExt cx="6145860" cy="488612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145911" cy="4886071"/>
            </a:xfrm>
            <a:custGeom>
              <a:avLst/>
              <a:gdLst/>
              <a:ahLst/>
              <a:cxnLst/>
              <a:rect r="r" b="b" t="t" l="l"/>
              <a:pathLst>
                <a:path h="4886071" w="6145911">
                  <a:moveTo>
                    <a:pt x="0" y="160020"/>
                  </a:moveTo>
                  <a:cubicBezTo>
                    <a:pt x="0" y="71628"/>
                    <a:pt x="71628" y="0"/>
                    <a:pt x="160020" y="0"/>
                  </a:cubicBezTo>
                  <a:lnTo>
                    <a:pt x="5985891" y="0"/>
                  </a:lnTo>
                  <a:cubicBezTo>
                    <a:pt x="6074283" y="0"/>
                    <a:pt x="6145911" y="71628"/>
                    <a:pt x="6145911" y="160020"/>
                  </a:cubicBezTo>
                  <a:lnTo>
                    <a:pt x="6145911" y="4726051"/>
                  </a:lnTo>
                  <a:cubicBezTo>
                    <a:pt x="6145911" y="4814443"/>
                    <a:pt x="6074283" y="4886071"/>
                    <a:pt x="5985891" y="4886071"/>
                  </a:cubicBezTo>
                  <a:lnTo>
                    <a:pt x="160020" y="4886071"/>
                  </a:lnTo>
                  <a:cubicBezTo>
                    <a:pt x="71628" y="4886071"/>
                    <a:pt x="0" y="4814443"/>
                    <a:pt x="0" y="4726051"/>
                  </a:cubicBezTo>
                  <a:close/>
                </a:path>
              </a:pathLst>
            </a:custGeom>
            <a:solidFill>
              <a:srgbClr val="101620"/>
            </a:solidFill>
            <a:ln w="28575" cap="sq">
              <a:solidFill>
                <a:srgbClr val="002A80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1304296" y="3225108"/>
            <a:ext cx="3956647" cy="498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6"/>
              </a:lnSpc>
            </a:pPr>
            <a:r>
              <a:rPr lang="en-US" b="true" sz="2775" spc="-55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RISING HEAT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04296" y="3855834"/>
            <a:ext cx="3956647" cy="20507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8"/>
              </a:lnSpc>
            </a:pPr>
            <a:r>
              <a:rPr lang="en-US" sz="2175" b="true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+11°C IN JUST 10 MINUTES</a:t>
            </a:r>
          </a:p>
          <a:p>
            <a:pPr algn="l">
              <a:lnSpc>
                <a:spcPts val="2818"/>
              </a:lnSpc>
            </a:pPr>
            <a:r>
              <a:rPr lang="en-US" sz="217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Vehicle temperatures can rise dangerously fast.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5842254" y="2936824"/>
            <a:ext cx="4609538" cy="3664591"/>
            <a:chOff x="0" y="0"/>
            <a:chExt cx="6146051" cy="4886122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146038" cy="4886071"/>
            </a:xfrm>
            <a:custGeom>
              <a:avLst/>
              <a:gdLst/>
              <a:ahLst/>
              <a:cxnLst/>
              <a:rect r="r" b="b" t="t" l="l"/>
              <a:pathLst>
                <a:path h="4886071" w="6146038">
                  <a:moveTo>
                    <a:pt x="0" y="160020"/>
                  </a:moveTo>
                  <a:cubicBezTo>
                    <a:pt x="0" y="71628"/>
                    <a:pt x="71628" y="0"/>
                    <a:pt x="160020" y="0"/>
                  </a:cubicBezTo>
                  <a:lnTo>
                    <a:pt x="5986018" y="0"/>
                  </a:lnTo>
                  <a:cubicBezTo>
                    <a:pt x="6074410" y="0"/>
                    <a:pt x="6146038" y="71628"/>
                    <a:pt x="6146038" y="160020"/>
                  </a:cubicBezTo>
                  <a:lnTo>
                    <a:pt x="6146038" y="4726051"/>
                  </a:lnTo>
                  <a:cubicBezTo>
                    <a:pt x="6146038" y="4814443"/>
                    <a:pt x="6074410" y="4886071"/>
                    <a:pt x="5986018" y="4886071"/>
                  </a:cubicBezTo>
                  <a:lnTo>
                    <a:pt x="160020" y="4886071"/>
                  </a:lnTo>
                  <a:cubicBezTo>
                    <a:pt x="71628" y="4886071"/>
                    <a:pt x="0" y="4814443"/>
                    <a:pt x="0" y="4726051"/>
                  </a:cubicBezTo>
                  <a:close/>
                </a:path>
              </a:pathLst>
            </a:custGeom>
            <a:solidFill>
              <a:srgbClr val="101620"/>
            </a:solidFill>
            <a:ln w="28575" cap="sq">
              <a:solidFill>
                <a:srgbClr val="002A80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6168619" y="3225108"/>
            <a:ext cx="3956790" cy="498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6"/>
              </a:lnSpc>
            </a:pPr>
            <a:r>
              <a:rPr lang="en-US" b="true" sz="2775" spc="-55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VULNERABLE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168619" y="3855834"/>
            <a:ext cx="3956790" cy="2419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8"/>
              </a:lnSpc>
            </a:pPr>
            <a:r>
              <a:rPr lang="en-US" sz="2175" b="true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FASTER × 5-3</a:t>
            </a:r>
          </a:p>
          <a:p>
            <a:pPr algn="l">
              <a:lnSpc>
                <a:spcPts val="2818"/>
              </a:lnSpc>
            </a:pPr>
            <a:r>
              <a:rPr lang="en-US" sz="217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A child's body heats up faster than an adult's.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977922" y="6856362"/>
            <a:ext cx="9473860" cy="1574559"/>
            <a:chOff x="0" y="0"/>
            <a:chExt cx="12631814" cy="2099412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2631928" cy="2099437"/>
            </a:xfrm>
            <a:custGeom>
              <a:avLst/>
              <a:gdLst/>
              <a:ahLst/>
              <a:cxnLst/>
              <a:rect r="r" b="b" t="t" l="l"/>
              <a:pathLst>
                <a:path h="2099437" w="12631928">
                  <a:moveTo>
                    <a:pt x="0" y="115697"/>
                  </a:moveTo>
                  <a:cubicBezTo>
                    <a:pt x="0" y="51816"/>
                    <a:pt x="51816" y="0"/>
                    <a:pt x="115697" y="0"/>
                  </a:cubicBezTo>
                  <a:lnTo>
                    <a:pt x="12516231" y="0"/>
                  </a:lnTo>
                  <a:cubicBezTo>
                    <a:pt x="12580113" y="0"/>
                    <a:pt x="12631928" y="51816"/>
                    <a:pt x="12631928" y="115697"/>
                  </a:cubicBezTo>
                  <a:lnTo>
                    <a:pt x="12631928" y="1983740"/>
                  </a:lnTo>
                  <a:cubicBezTo>
                    <a:pt x="12631928" y="2047621"/>
                    <a:pt x="12580113" y="2099437"/>
                    <a:pt x="12516231" y="2099437"/>
                  </a:cubicBezTo>
                  <a:lnTo>
                    <a:pt x="115697" y="2099437"/>
                  </a:lnTo>
                  <a:cubicBezTo>
                    <a:pt x="51816" y="2099437"/>
                    <a:pt x="0" y="2047621"/>
                    <a:pt x="0" y="1983740"/>
                  </a:cubicBezTo>
                  <a:close/>
                </a:path>
              </a:pathLst>
            </a:custGeom>
            <a:solidFill>
              <a:srgbClr val="101620"/>
            </a:solidFill>
            <a:ln w="28575" cap="sq">
              <a:solidFill>
                <a:srgbClr val="002A80"/>
              </a:solidFill>
              <a:prstDash val="solid"/>
              <a:miter/>
            </a:ln>
          </p:spPr>
        </p:sp>
      </p:grpSp>
      <p:sp>
        <p:nvSpPr>
          <p:cNvPr name="TextBox 21" id="21"/>
          <p:cNvSpPr txBox="true"/>
          <p:nvPr/>
        </p:nvSpPr>
        <p:spPr>
          <a:xfrm rot="0">
            <a:off x="1304296" y="7144645"/>
            <a:ext cx="8821122" cy="498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6"/>
              </a:lnSpc>
            </a:pPr>
            <a:r>
              <a:rPr lang="en-US" b="true" sz="2775" spc="-55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SILENT DANGER 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04296" y="7775372"/>
            <a:ext cx="8821122" cy="9452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8"/>
              </a:lnSpc>
            </a:pPr>
            <a:r>
              <a:rPr lang="en-US" sz="2175" b="true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A sleeping child may be difficult to notice.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468125" y="129626"/>
            <a:ext cx="1654407" cy="1840859"/>
            <a:chOff x="0" y="0"/>
            <a:chExt cx="2205876" cy="245447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05863" cy="2454529"/>
            </a:xfrm>
            <a:custGeom>
              <a:avLst/>
              <a:gdLst/>
              <a:ahLst/>
              <a:cxnLst/>
              <a:rect r="r" b="b" t="t" l="l"/>
              <a:pathLst>
                <a:path h="2454529" w="2205863">
                  <a:moveTo>
                    <a:pt x="0" y="0"/>
                  </a:moveTo>
                  <a:lnTo>
                    <a:pt x="2205863" y="0"/>
                  </a:lnTo>
                  <a:lnTo>
                    <a:pt x="2205863" y="2454529"/>
                  </a:lnTo>
                  <a:lnTo>
                    <a:pt x="0" y="2454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48087" t="0" r="-49729" b="1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3440544" y="3095539"/>
            <a:ext cx="859965" cy="798405"/>
            <a:chOff x="0" y="0"/>
            <a:chExt cx="1146620" cy="1064539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146683" cy="1064514"/>
            </a:xfrm>
            <a:custGeom>
              <a:avLst/>
              <a:gdLst/>
              <a:ahLst/>
              <a:cxnLst/>
              <a:rect r="r" b="b" t="t" l="l"/>
              <a:pathLst>
                <a:path h="1064514" w="1146683">
                  <a:moveTo>
                    <a:pt x="0" y="0"/>
                  </a:moveTo>
                  <a:lnTo>
                    <a:pt x="1146683" y="0"/>
                  </a:lnTo>
                  <a:lnTo>
                    <a:pt x="1146683" y="1064514"/>
                  </a:lnTo>
                  <a:lnTo>
                    <a:pt x="0" y="10645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12489" t="-12125" r="-188553" b="-104061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8496005" y="3095539"/>
            <a:ext cx="859965" cy="798405"/>
            <a:chOff x="0" y="0"/>
            <a:chExt cx="1146620" cy="1064539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146683" cy="1064514"/>
            </a:xfrm>
            <a:custGeom>
              <a:avLst/>
              <a:gdLst/>
              <a:ahLst/>
              <a:cxnLst/>
              <a:rect r="r" b="b" t="t" l="l"/>
              <a:pathLst>
                <a:path h="1064514" w="1146683">
                  <a:moveTo>
                    <a:pt x="0" y="0"/>
                  </a:moveTo>
                  <a:lnTo>
                    <a:pt x="1146683" y="0"/>
                  </a:lnTo>
                  <a:lnTo>
                    <a:pt x="1146683" y="1064514"/>
                  </a:lnTo>
                  <a:lnTo>
                    <a:pt x="0" y="10645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95202" t="-5532" r="-105841" b="-110654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4208897" y="7015077"/>
            <a:ext cx="859965" cy="798405"/>
            <a:chOff x="0" y="0"/>
            <a:chExt cx="1146620" cy="1064539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146683" cy="1064514"/>
            </a:xfrm>
            <a:custGeom>
              <a:avLst/>
              <a:gdLst/>
              <a:ahLst/>
              <a:cxnLst/>
              <a:rect r="r" b="b" t="t" l="l"/>
              <a:pathLst>
                <a:path h="1064514" w="1146683">
                  <a:moveTo>
                    <a:pt x="0" y="0"/>
                  </a:moveTo>
                  <a:lnTo>
                    <a:pt x="1146683" y="0"/>
                  </a:lnTo>
                  <a:lnTo>
                    <a:pt x="1146683" y="1064514"/>
                  </a:lnTo>
                  <a:lnTo>
                    <a:pt x="0" y="10645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201048" t="-11122" r="5" b="-105064"/>
              </a:stretch>
            </a:blipFill>
          </p:spPr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615315" y="9838487"/>
            <a:ext cx="1607763" cy="384048"/>
            <a:chOff x="0" y="0"/>
            <a:chExt cx="2143684" cy="512064"/>
          </a:xfrm>
        </p:grpSpPr>
        <p:sp>
          <p:nvSpPr>
            <p:cNvPr name="Freeform 7" id="7" descr="preencoded.png">
              <a:hlinkClick r:id="rId4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143633" cy="512064"/>
            </a:xfrm>
            <a:custGeom>
              <a:avLst/>
              <a:gdLst/>
              <a:ahLst/>
              <a:cxnLst/>
              <a:rect r="r" b="b" t="t" l="l"/>
              <a:pathLst>
                <a:path h="512064" w="2143633">
                  <a:moveTo>
                    <a:pt x="0" y="0"/>
                  </a:moveTo>
                  <a:lnTo>
                    <a:pt x="2143633" y="0"/>
                  </a:lnTo>
                  <a:lnTo>
                    <a:pt x="2143633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92210" y="1405538"/>
            <a:ext cx="16303114" cy="498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6"/>
              </a:lnSpc>
            </a:pPr>
            <a:r>
              <a:rPr lang="en-US" b="true" sz="2775" spc="-55">
                <a:solidFill>
                  <a:srgbClr val="38AFFF"/>
                </a:solidFill>
                <a:latin typeface="Arimo Bold"/>
                <a:ea typeface="Arimo Bold"/>
                <a:cs typeface="Arimo Bold"/>
                <a:sym typeface="Arimo Bold"/>
              </a:rPr>
              <a:t>THE SOLUTION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10" y="2186588"/>
            <a:ext cx="16303114" cy="19858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385"/>
              </a:lnSpc>
            </a:pPr>
            <a:r>
              <a:rPr lang="en-US" b="true" sz="11100" spc="-223">
                <a:solidFill>
                  <a:srgbClr val="F2F5FA"/>
                </a:solidFill>
                <a:latin typeface="Arimo Bold"/>
                <a:ea typeface="Arimo Bold"/>
                <a:cs typeface="Arimo Bold"/>
                <a:sym typeface="Arimo Bold"/>
              </a:rPr>
              <a:t>MEET C.A.R.E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92210" y="4444013"/>
            <a:ext cx="16667140" cy="7750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8"/>
              </a:lnSpc>
            </a:pPr>
            <a:r>
              <a:rPr lang="en-US" sz="217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An autonomous safety system that scans the vehicle after shutdown and alerts the driver when a possible presence is detected.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77922" y="5639248"/>
            <a:ext cx="16331689" cy="3218259"/>
            <a:chOff x="0" y="0"/>
            <a:chExt cx="21775585" cy="429101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775547" cy="4290949"/>
            </a:xfrm>
            <a:custGeom>
              <a:avLst/>
              <a:gdLst/>
              <a:ahLst/>
              <a:cxnLst/>
              <a:rect r="r" b="b" t="t" l="l"/>
              <a:pathLst>
                <a:path h="4290949" w="21775547">
                  <a:moveTo>
                    <a:pt x="0" y="160147"/>
                  </a:moveTo>
                  <a:cubicBezTo>
                    <a:pt x="0" y="71755"/>
                    <a:pt x="71755" y="0"/>
                    <a:pt x="160147" y="0"/>
                  </a:cubicBezTo>
                  <a:lnTo>
                    <a:pt x="21615400" y="0"/>
                  </a:lnTo>
                  <a:cubicBezTo>
                    <a:pt x="21703919" y="0"/>
                    <a:pt x="21775547" y="71755"/>
                    <a:pt x="21775547" y="160147"/>
                  </a:cubicBezTo>
                  <a:lnTo>
                    <a:pt x="21775547" y="4130802"/>
                  </a:lnTo>
                  <a:cubicBezTo>
                    <a:pt x="21775547" y="4219321"/>
                    <a:pt x="21703792" y="4290949"/>
                    <a:pt x="21615400" y="4290949"/>
                  </a:cubicBezTo>
                  <a:lnTo>
                    <a:pt x="160147" y="4290949"/>
                  </a:lnTo>
                  <a:cubicBezTo>
                    <a:pt x="71755" y="4290949"/>
                    <a:pt x="0" y="4219321"/>
                    <a:pt x="0" y="4130802"/>
                  </a:cubicBezTo>
                  <a:close/>
                </a:path>
              </a:pathLst>
            </a:custGeom>
            <a:solidFill>
              <a:srgbClr val="101620"/>
            </a:solidFill>
            <a:ln w="28575" cap="sq">
              <a:solidFill>
                <a:srgbClr val="002A80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1020785" y="5682110"/>
            <a:ext cx="8122987" cy="1566262"/>
            <a:chOff x="0" y="0"/>
            <a:chExt cx="10830649" cy="20883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830687" cy="2088388"/>
            </a:xfrm>
            <a:custGeom>
              <a:avLst/>
              <a:gdLst/>
              <a:ahLst/>
              <a:cxnLst/>
              <a:rect r="r" b="b" t="t" l="l"/>
              <a:pathLst>
                <a:path h="2088388" w="10830687">
                  <a:moveTo>
                    <a:pt x="132334" y="0"/>
                  </a:moveTo>
                  <a:lnTo>
                    <a:pt x="10830687" y="0"/>
                  </a:lnTo>
                  <a:lnTo>
                    <a:pt x="10830687" y="2088388"/>
                  </a:lnTo>
                  <a:lnTo>
                    <a:pt x="0" y="2088388"/>
                  </a:lnTo>
                  <a:lnTo>
                    <a:pt x="0" y="132334"/>
                  </a:lnTo>
                  <a:cubicBezTo>
                    <a:pt x="0" y="59182"/>
                    <a:pt x="59182" y="0"/>
                    <a:pt x="132334" y="0"/>
                  </a:cubicBezTo>
                  <a:close/>
                </a:path>
              </a:pathLst>
            </a:custGeom>
            <a:solidFill>
              <a:srgbClr val="101620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2036836" y="5927522"/>
            <a:ext cx="7130767" cy="498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6"/>
              </a:lnSpc>
            </a:pPr>
            <a:r>
              <a:rPr lang="en-US" b="true" sz="2775" spc="-55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AUTOMATIC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2036836" y="6558258"/>
            <a:ext cx="7130767" cy="406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8"/>
              </a:lnSpc>
            </a:pPr>
            <a:r>
              <a:rPr lang="en-US" sz="217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Activates automatically after vehicle shutdown.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143771" y="5682110"/>
            <a:ext cx="8122987" cy="1566262"/>
            <a:chOff x="0" y="0"/>
            <a:chExt cx="10830649" cy="208835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830687" cy="2088388"/>
            </a:xfrm>
            <a:custGeom>
              <a:avLst/>
              <a:gdLst/>
              <a:ahLst/>
              <a:cxnLst/>
              <a:rect r="r" b="b" t="t" l="l"/>
              <a:pathLst>
                <a:path h="2088388" w="10830687">
                  <a:moveTo>
                    <a:pt x="0" y="0"/>
                  </a:moveTo>
                  <a:lnTo>
                    <a:pt x="10698353" y="0"/>
                  </a:lnTo>
                  <a:cubicBezTo>
                    <a:pt x="10771378" y="0"/>
                    <a:pt x="10830687" y="59182"/>
                    <a:pt x="10830687" y="132334"/>
                  </a:cubicBezTo>
                  <a:lnTo>
                    <a:pt x="10830687" y="2088388"/>
                  </a:lnTo>
                  <a:lnTo>
                    <a:pt x="0" y="20883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01620"/>
            </a:solid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9143771" y="5682110"/>
            <a:ext cx="38100" cy="1566262"/>
            <a:chOff x="0" y="0"/>
            <a:chExt cx="50800" cy="208835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0800" cy="2088388"/>
            </a:xfrm>
            <a:custGeom>
              <a:avLst/>
              <a:gdLst/>
              <a:ahLst/>
              <a:cxnLst/>
              <a:rect r="r" b="b" t="t" l="l"/>
              <a:pathLst>
                <a:path h="2088388" w="50800">
                  <a:moveTo>
                    <a:pt x="0" y="25400"/>
                  </a:moveTo>
                  <a:cubicBezTo>
                    <a:pt x="0" y="11430"/>
                    <a:pt x="11430" y="0"/>
                    <a:pt x="25400" y="0"/>
                  </a:cubicBezTo>
                  <a:cubicBezTo>
                    <a:pt x="39370" y="0"/>
                    <a:pt x="50800" y="11430"/>
                    <a:pt x="50800" y="25400"/>
                  </a:cubicBezTo>
                  <a:lnTo>
                    <a:pt x="50800" y="2062988"/>
                  </a:lnTo>
                  <a:cubicBezTo>
                    <a:pt x="50800" y="2076958"/>
                    <a:pt x="39370" y="2088388"/>
                    <a:pt x="25400" y="2088388"/>
                  </a:cubicBezTo>
                  <a:cubicBezTo>
                    <a:pt x="11430" y="2088388"/>
                    <a:pt x="0" y="2076958"/>
                    <a:pt x="0" y="2062988"/>
                  </a:cubicBezTo>
                  <a:close/>
                </a:path>
              </a:pathLst>
            </a:custGeom>
            <a:solidFill>
              <a:srgbClr val="002A80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0241090" y="5927522"/>
            <a:ext cx="7130767" cy="498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6"/>
              </a:lnSpc>
            </a:pPr>
            <a:r>
              <a:rPr lang="en-US" b="true" sz="2775" spc="-55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STANDALONE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0241090" y="6558258"/>
            <a:ext cx="7130767" cy="406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8"/>
              </a:lnSpc>
            </a:pPr>
            <a:r>
              <a:rPr lang="en-US" sz="217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Works independently of the vehicle's built-in systems.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020785" y="7248373"/>
            <a:ext cx="8122987" cy="1566262"/>
            <a:chOff x="0" y="0"/>
            <a:chExt cx="10830649" cy="208835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830687" cy="2088388"/>
            </a:xfrm>
            <a:custGeom>
              <a:avLst/>
              <a:gdLst/>
              <a:ahLst/>
              <a:cxnLst/>
              <a:rect r="r" b="b" t="t" l="l"/>
              <a:pathLst>
                <a:path h="2088388" w="10830687">
                  <a:moveTo>
                    <a:pt x="0" y="0"/>
                  </a:moveTo>
                  <a:lnTo>
                    <a:pt x="10830687" y="0"/>
                  </a:lnTo>
                  <a:lnTo>
                    <a:pt x="10830687" y="2088388"/>
                  </a:lnTo>
                  <a:lnTo>
                    <a:pt x="132334" y="2088388"/>
                  </a:lnTo>
                  <a:cubicBezTo>
                    <a:pt x="59182" y="2088388"/>
                    <a:pt x="0" y="2029079"/>
                    <a:pt x="0" y="195605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101620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020785" y="7248373"/>
            <a:ext cx="8122987" cy="38100"/>
            <a:chOff x="0" y="0"/>
            <a:chExt cx="10830649" cy="508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0830687" cy="50800"/>
            </a:xfrm>
            <a:custGeom>
              <a:avLst/>
              <a:gdLst/>
              <a:ahLst/>
              <a:cxnLst/>
              <a:rect r="r" b="b" t="t" l="l"/>
              <a:pathLst>
                <a:path h="50800" w="10830687">
                  <a:moveTo>
                    <a:pt x="0" y="25400"/>
                  </a:moveTo>
                  <a:cubicBezTo>
                    <a:pt x="0" y="11430"/>
                    <a:pt x="11430" y="0"/>
                    <a:pt x="25400" y="0"/>
                  </a:cubicBezTo>
                  <a:lnTo>
                    <a:pt x="10805287" y="0"/>
                  </a:lnTo>
                  <a:cubicBezTo>
                    <a:pt x="10819257" y="0"/>
                    <a:pt x="10830687" y="11430"/>
                    <a:pt x="10830687" y="25400"/>
                  </a:cubicBezTo>
                  <a:cubicBezTo>
                    <a:pt x="10830687" y="39370"/>
                    <a:pt x="10819257" y="50800"/>
                    <a:pt x="10805287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lose/>
                </a:path>
              </a:pathLst>
            </a:custGeom>
            <a:solidFill>
              <a:srgbClr val="002A80"/>
            </a:solidFill>
          </p:spPr>
        </p:sp>
      </p:grpSp>
      <p:sp>
        <p:nvSpPr>
          <p:cNvPr name="TextBox 27" id="27"/>
          <p:cNvSpPr txBox="true"/>
          <p:nvPr/>
        </p:nvSpPr>
        <p:spPr>
          <a:xfrm rot="0">
            <a:off x="2036836" y="7493794"/>
            <a:ext cx="7130767" cy="498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6"/>
              </a:lnSpc>
            </a:pPr>
            <a:r>
              <a:rPr lang="en-US" b="true" sz="2775" spc="-55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REAL-TIME ALERT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036836" y="8124530"/>
            <a:ext cx="7130767" cy="406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8"/>
              </a:lnSpc>
            </a:pPr>
            <a:r>
              <a:rPr lang="en-US" sz="217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Alerts the driver when a possible presence is detected.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143771" y="7248373"/>
            <a:ext cx="8122987" cy="1566262"/>
            <a:chOff x="0" y="0"/>
            <a:chExt cx="10830649" cy="208835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830687" cy="2088388"/>
            </a:xfrm>
            <a:custGeom>
              <a:avLst/>
              <a:gdLst/>
              <a:ahLst/>
              <a:cxnLst/>
              <a:rect r="r" b="b" t="t" l="l"/>
              <a:pathLst>
                <a:path h="2088388" w="10830687">
                  <a:moveTo>
                    <a:pt x="0" y="0"/>
                  </a:moveTo>
                  <a:lnTo>
                    <a:pt x="10830687" y="0"/>
                  </a:lnTo>
                  <a:lnTo>
                    <a:pt x="10830687" y="1956054"/>
                  </a:lnTo>
                  <a:cubicBezTo>
                    <a:pt x="10830687" y="2029079"/>
                    <a:pt x="10771505" y="2088388"/>
                    <a:pt x="10698353" y="2088388"/>
                  </a:cubicBezTo>
                  <a:lnTo>
                    <a:pt x="0" y="20883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01620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9143771" y="7248373"/>
            <a:ext cx="38100" cy="1566262"/>
            <a:chOff x="0" y="0"/>
            <a:chExt cx="50800" cy="208835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0800" cy="2088388"/>
            </a:xfrm>
            <a:custGeom>
              <a:avLst/>
              <a:gdLst/>
              <a:ahLst/>
              <a:cxnLst/>
              <a:rect r="r" b="b" t="t" l="l"/>
              <a:pathLst>
                <a:path h="2088388" w="50800">
                  <a:moveTo>
                    <a:pt x="0" y="25400"/>
                  </a:moveTo>
                  <a:cubicBezTo>
                    <a:pt x="0" y="11430"/>
                    <a:pt x="11430" y="0"/>
                    <a:pt x="25400" y="0"/>
                  </a:cubicBezTo>
                  <a:cubicBezTo>
                    <a:pt x="39370" y="0"/>
                    <a:pt x="50800" y="11430"/>
                    <a:pt x="50800" y="25400"/>
                  </a:cubicBezTo>
                  <a:lnTo>
                    <a:pt x="50800" y="2062988"/>
                  </a:lnTo>
                  <a:cubicBezTo>
                    <a:pt x="50800" y="2076958"/>
                    <a:pt x="39370" y="2088388"/>
                    <a:pt x="25400" y="2088388"/>
                  </a:cubicBezTo>
                  <a:cubicBezTo>
                    <a:pt x="11430" y="2088388"/>
                    <a:pt x="0" y="2076958"/>
                    <a:pt x="0" y="2062988"/>
                  </a:cubicBezTo>
                  <a:close/>
                </a:path>
              </a:pathLst>
            </a:custGeom>
            <a:solidFill>
              <a:srgbClr val="002A80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9143771" y="7248373"/>
            <a:ext cx="8122987" cy="38100"/>
            <a:chOff x="0" y="0"/>
            <a:chExt cx="10830649" cy="508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0830687" cy="50800"/>
            </a:xfrm>
            <a:custGeom>
              <a:avLst/>
              <a:gdLst/>
              <a:ahLst/>
              <a:cxnLst/>
              <a:rect r="r" b="b" t="t" l="l"/>
              <a:pathLst>
                <a:path h="50800" w="10830687">
                  <a:moveTo>
                    <a:pt x="0" y="25400"/>
                  </a:moveTo>
                  <a:cubicBezTo>
                    <a:pt x="0" y="11430"/>
                    <a:pt x="11430" y="0"/>
                    <a:pt x="25400" y="0"/>
                  </a:cubicBezTo>
                  <a:lnTo>
                    <a:pt x="10805287" y="0"/>
                  </a:lnTo>
                  <a:cubicBezTo>
                    <a:pt x="10819257" y="0"/>
                    <a:pt x="10830687" y="11430"/>
                    <a:pt x="10830687" y="25400"/>
                  </a:cubicBezTo>
                  <a:cubicBezTo>
                    <a:pt x="10830687" y="39370"/>
                    <a:pt x="10819257" y="50800"/>
                    <a:pt x="10805287" y="50800"/>
                  </a:cubicBezTo>
                  <a:lnTo>
                    <a:pt x="25400" y="50800"/>
                  </a:lnTo>
                  <a:cubicBezTo>
                    <a:pt x="11430" y="50800"/>
                    <a:pt x="0" y="39370"/>
                    <a:pt x="0" y="25400"/>
                  </a:cubicBezTo>
                  <a:close/>
                </a:path>
              </a:pathLst>
            </a:custGeom>
            <a:solidFill>
              <a:srgbClr val="002A80"/>
            </a:solidFill>
          </p:spPr>
        </p:sp>
      </p:grpSp>
      <p:sp>
        <p:nvSpPr>
          <p:cNvPr name="TextBox 35" id="35"/>
          <p:cNvSpPr txBox="true"/>
          <p:nvPr/>
        </p:nvSpPr>
        <p:spPr>
          <a:xfrm rot="0">
            <a:off x="10241090" y="7493794"/>
            <a:ext cx="7130767" cy="498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6"/>
              </a:lnSpc>
            </a:pPr>
            <a:r>
              <a:rPr lang="en-US" b="true" sz="2775" spc="-55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NO DRIVER ACTION REQUIRED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241090" y="8124530"/>
            <a:ext cx="7130767" cy="406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18"/>
              </a:lnSpc>
            </a:pPr>
            <a:r>
              <a:rPr lang="en-US" sz="217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C.A.R.E runs without requiring the driver to activate it.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9307582" y="6091838"/>
            <a:ext cx="746798" cy="746817"/>
            <a:chOff x="0" y="0"/>
            <a:chExt cx="995731" cy="99575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995680" cy="995680"/>
            </a:xfrm>
            <a:custGeom>
              <a:avLst/>
              <a:gdLst/>
              <a:ahLst/>
              <a:cxnLst/>
              <a:rect r="r" b="b" t="t" l="l"/>
              <a:pathLst>
                <a:path h="995680" w="995680">
                  <a:moveTo>
                    <a:pt x="0" y="167259"/>
                  </a:moveTo>
                  <a:cubicBezTo>
                    <a:pt x="0" y="74930"/>
                    <a:pt x="74930" y="0"/>
                    <a:pt x="167259" y="0"/>
                  </a:cubicBezTo>
                  <a:lnTo>
                    <a:pt x="828421" y="0"/>
                  </a:lnTo>
                  <a:cubicBezTo>
                    <a:pt x="920877" y="0"/>
                    <a:pt x="995680" y="74930"/>
                    <a:pt x="995680" y="167259"/>
                  </a:cubicBezTo>
                  <a:lnTo>
                    <a:pt x="995680" y="828421"/>
                  </a:lnTo>
                  <a:cubicBezTo>
                    <a:pt x="995680" y="920877"/>
                    <a:pt x="920750" y="995680"/>
                    <a:pt x="828421" y="995680"/>
                  </a:cubicBezTo>
                  <a:lnTo>
                    <a:pt x="167259" y="995680"/>
                  </a:lnTo>
                  <a:cubicBezTo>
                    <a:pt x="74930" y="995807"/>
                    <a:pt x="0" y="920877"/>
                    <a:pt x="0" y="828421"/>
                  </a:cubicBez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  <a:ln w="38098" cap="sq">
              <a:solidFill>
                <a:srgbClr val="002A80"/>
              </a:solidFill>
              <a:prstDash val="solid"/>
              <a:miter/>
            </a:ln>
          </p:spPr>
        </p:sp>
      </p:grpSp>
      <p:grpSp>
        <p:nvGrpSpPr>
          <p:cNvPr name="Group 39" id="39"/>
          <p:cNvGrpSpPr/>
          <p:nvPr/>
        </p:nvGrpSpPr>
        <p:grpSpPr>
          <a:xfrm rot="0">
            <a:off x="9307582" y="7658100"/>
            <a:ext cx="746798" cy="746817"/>
            <a:chOff x="0" y="0"/>
            <a:chExt cx="995731" cy="995756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995680" cy="995680"/>
            </a:xfrm>
            <a:custGeom>
              <a:avLst/>
              <a:gdLst/>
              <a:ahLst/>
              <a:cxnLst/>
              <a:rect r="r" b="b" t="t" l="l"/>
              <a:pathLst>
                <a:path h="995680" w="995680">
                  <a:moveTo>
                    <a:pt x="0" y="167259"/>
                  </a:moveTo>
                  <a:cubicBezTo>
                    <a:pt x="0" y="74930"/>
                    <a:pt x="74930" y="0"/>
                    <a:pt x="167259" y="0"/>
                  </a:cubicBezTo>
                  <a:lnTo>
                    <a:pt x="828421" y="0"/>
                  </a:lnTo>
                  <a:cubicBezTo>
                    <a:pt x="920877" y="0"/>
                    <a:pt x="995680" y="74930"/>
                    <a:pt x="995680" y="167259"/>
                  </a:cubicBezTo>
                  <a:lnTo>
                    <a:pt x="995680" y="828421"/>
                  </a:lnTo>
                  <a:cubicBezTo>
                    <a:pt x="995680" y="920877"/>
                    <a:pt x="920750" y="995680"/>
                    <a:pt x="828421" y="995680"/>
                  </a:cubicBezTo>
                  <a:lnTo>
                    <a:pt x="167259" y="995680"/>
                  </a:lnTo>
                  <a:cubicBezTo>
                    <a:pt x="74930" y="995807"/>
                    <a:pt x="0" y="920877"/>
                    <a:pt x="0" y="828421"/>
                  </a:cubicBez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  <a:ln w="38098" cap="sq">
              <a:solidFill>
                <a:srgbClr val="002A80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6468125" y="129626"/>
            <a:ext cx="1654407" cy="1840859"/>
            <a:chOff x="0" y="0"/>
            <a:chExt cx="2205876" cy="2454478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2205863" cy="2454529"/>
            </a:xfrm>
            <a:custGeom>
              <a:avLst/>
              <a:gdLst/>
              <a:ahLst/>
              <a:cxnLst/>
              <a:rect r="r" b="b" t="t" l="l"/>
              <a:pathLst>
                <a:path h="2454529" w="2205863">
                  <a:moveTo>
                    <a:pt x="0" y="0"/>
                  </a:moveTo>
                  <a:lnTo>
                    <a:pt x="2205863" y="0"/>
                  </a:lnTo>
                  <a:lnTo>
                    <a:pt x="2205863" y="2454529"/>
                  </a:lnTo>
                  <a:lnTo>
                    <a:pt x="0" y="2454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8087" t="0" r="-49729" b="1"/>
              </a:stretch>
            </a:blipFill>
          </p:spPr>
        </p:sp>
      </p:grpSp>
      <p:grpSp>
        <p:nvGrpSpPr>
          <p:cNvPr name="Group 43" id="43"/>
          <p:cNvGrpSpPr/>
          <p:nvPr/>
        </p:nvGrpSpPr>
        <p:grpSpPr>
          <a:xfrm rot="0">
            <a:off x="16520379" y="9747218"/>
            <a:ext cx="1673457" cy="479669"/>
            <a:chOff x="0" y="0"/>
            <a:chExt cx="2231276" cy="639559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2231263" cy="639572"/>
            </a:xfrm>
            <a:custGeom>
              <a:avLst/>
              <a:gdLst/>
              <a:ahLst/>
              <a:cxnLst/>
              <a:rect r="r" b="b" t="t" l="l"/>
              <a:pathLst>
                <a:path h="639572" w="2231263">
                  <a:moveTo>
                    <a:pt x="0" y="0"/>
                  </a:moveTo>
                  <a:lnTo>
                    <a:pt x="2231263" y="0"/>
                  </a:lnTo>
                  <a:lnTo>
                    <a:pt x="2231263" y="639572"/>
                  </a:lnTo>
                  <a:lnTo>
                    <a:pt x="0" y="639572"/>
                  </a:lnTo>
                  <a:close/>
                </a:path>
              </a:pathLst>
            </a:custGeom>
            <a:solidFill>
              <a:srgbClr val="101620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1193540" y="6077645"/>
            <a:ext cx="746798" cy="746817"/>
            <a:chOff x="0" y="0"/>
            <a:chExt cx="995731" cy="995756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995680" cy="995680"/>
            </a:xfrm>
            <a:custGeom>
              <a:avLst/>
              <a:gdLst/>
              <a:ahLst/>
              <a:cxnLst/>
              <a:rect r="r" b="b" t="t" l="l"/>
              <a:pathLst>
                <a:path h="995680" w="995680">
                  <a:moveTo>
                    <a:pt x="0" y="167259"/>
                  </a:moveTo>
                  <a:cubicBezTo>
                    <a:pt x="0" y="74930"/>
                    <a:pt x="74930" y="0"/>
                    <a:pt x="167259" y="0"/>
                  </a:cubicBezTo>
                  <a:lnTo>
                    <a:pt x="828421" y="0"/>
                  </a:lnTo>
                  <a:cubicBezTo>
                    <a:pt x="920877" y="0"/>
                    <a:pt x="995680" y="74930"/>
                    <a:pt x="995680" y="167259"/>
                  </a:cubicBezTo>
                  <a:lnTo>
                    <a:pt x="995680" y="828421"/>
                  </a:lnTo>
                  <a:cubicBezTo>
                    <a:pt x="995680" y="920877"/>
                    <a:pt x="920750" y="995680"/>
                    <a:pt x="828421" y="995680"/>
                  </a:cubicBezTo>
                  <a:lnTo>
                    <a:pt x="167259" y="995680"/>
                  </a:lnTo>
                  <a:cubicBezTo>
                    <a:pt x="74930" y="995807"/>
                    <a:pt x="0" y="920877"/>
                    <a:pt x="0" y="828421"/>
                  </a:cubicBez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  <a:ln w="38098" cap="sq">
              <a:solidFill>
                <a:srgbClr val="002A80"/>
              </a:solidFill>
              <a:prstDash val="solid"/>
              <a:miter/>
            </a:ln>
          </p:spPr>
        </p:sp>
      </p:grpSp>
      <p:grpSp>
        <p:nvGrpSpPr>
          <p:cNvPr name="Group 47" id="47"/>
          <p:cNvGrpSpPr/>
          <p:nvPr/>
        </p:nvGrpSpPr>
        <p:grpSpPr>
          <a:xfrm rot="0">
            <a:off x="1160850" y="7658100"/>
            <a:ext cx="746798" cy="746817"/>
            <a:chOff x="0" y="0"/>
            <a:chExt cx="995731" cy="995756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995680" cy="995680"/>
            </a:xfrm>
            <a:custGeom>
              <a:avLst/>
              <a:gdLst/>
              <a:ahLst/>
              <a:cxnLst/>
              <a:rect r="r" b="b" t="t" l="l"/>
              <a:pathLst>
                <a:path h="995680" w="995680">
                  <a:moveTo>
                    <a:pt x="0" y="167259"/>
                  </a:moveTo>
                  <a:cubicBezTo>
                    <a:pt x="0" y="74930"/>
                    <a:pt x="74930" y="0"/>
                    <a:pt x="167259" y="0"/>
                  </a:cubicBezTo>
                  <a:lnTo>
                    <a:pt x="828421" y="0"/>
                  </a:lnTo>
                  <a:cubicBezTo>
                    <a:pt x="920877" y="0"/>
                    <a:pt x="995680" y="74930"/>
                    <a:pt x="995680" y="167259"/>
                  </a:cubicBezTo>
                  <a:lnTo>
                    <a:pt x="995680" y="828421"/>
                  </a:lnTo>
                  <a:cubicBezTo>
                    <a:pt x="995680" y="920877"/>
                    <a:pt x="920750" y="995680"/>
                    <a:pt x="828421" y="995680"/>
                  </a:cubicBezTo>
                  <a:lnTo>
                    <a:pt x="167259" y="995680"/>
                  </a:lnTo>
                  <a:cubicBezTo>
                    <a:pt x="74930" y="995807"/>
                    <a:pt x="0" y="920877"/>
                    <a:pt x="0" y="828421"/>
                  </a:cubicBez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  <a:ln w="38098" cap="sq">
              <a:solidFill>
                <a:srgbClr val="002A80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1139352" y="6125270"/>
            <a:ext cx="758571" cy="726291"/>
            <a:chOff x="0" y="0"/>
            <a:chExt cx="1011428" cy="968388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1011428" cy="968375"/>
            </a:xfrm>
            <a:custGeom>
              <a:avLst/>
              <a:gdLst/>
              <a:ahLst/>
              <a:cxnLst/>
              <a:rect r="r" b="b" t="t" l="l"/>
              <a:pathLst>
                <a:path h="968375" w="1011428">
                  <a:moveTo>
                    <a:pt x="0" y="0"/>
                  </a:moveTo>
                  <a:lnTo>
                    <a:pt x="1011428" y="0"/>
                  </a:lnTo>
                  <a:lnTo>
                    <a:pt x="1011428" y="968375"/>
                  </a:lnTo>
                  <a:lnTo>
                    <a:pt x="0" y="9683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33697" t="-8729" r="-169913" b="-102676"/>
              </a:stretch>
            </a:blipFill>
          </p:spPr>
        </p:sp>
      </p:grpSp>
      <p:grpSp>
        <p:nvGrpSpPr>
          <p:cNvPr name="Group 51" id="51"/>
          <p:cNvGrpSpPr/>
          <p:nvPr/>
        </p:nvGrpSpPr>
        <p:grpSpPr>
          <a:xfrm rot="0">
            <a:off x="1160126" y="7776715"/>
            <a:ext cx="724414" cy="504615"/>
            <a:chOff x="0" y="0"/>
            <a:chExt cx="965886" cy="672821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965835" cy="672846"/>
            </a:xfrm>
            <a:custGeom>
              <a:avLst/>
              <a:gdLst/>
              <a:ahLst/>
              <a:cxnLst/>
              <a:rect r="r" b="b" t="t" l="l"/>
              <a:pathLst>
                <a:path h="672846" w="965835">
                  <a:moveTo>
                    <a:pt x="0" y="0"/>
                  </a:moveTo>
                  <a:lnTo>
                    <a:pt x="965835" y="0"/>
                  </a:lnTo>
                  <a:lnTo>
                    <a:pt x="965835" y="672846"/>
                  </a:lnTo>
                  <a:lnTo>
                    <a:pt x="0" y="6728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28916" t="-146217" r="-155165" b="-25637"/>
              </a:stretch>
            </a:blipFill>
          </p:spPr>
        </p:sp>
      </p:grpSp>
      <p:grpSp>
        <p:nvGrpSpPr>
          <p:cNvPr name="Group 53" id="53"/>
          <p:cNvGrpSpPr/>
          <p:nvPr/>
        </p:nvGrpSpPr>
        <p:grpSpPr>
          <a:xfrm rot="0">
            <a:off x="9326632" y="6174219"/>
            <a:ext cx="755437" cy="582054"/>
            <a:chOff x="0" y="0"/>
            <a:chExt cx="1007250" cy="776072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07237" cy="776097"/>
            </a:xfrm>
            <a:custGeom>
              <a:avLst/>
              <a:gdLst/>
              <a:ahLst/>
              <a:cxnLst/>
              <a:rect r="r" b="b" t="t" l="l"/>
              <a:pathLst>
                <a:path h="776097" w="1007237">
                  <a:moveTo>
                    <a:pt x="0" y="0"/>
                  </a:moveTo>
                  <a:lnTo>
                    <a:pt x="1007237" y="0"/>
                  </a:lnTo>
                  <a:lnTo>
                    <a:pt x="1007237" y="776097"/>
                  </a:lnTo>
                  <a:lnTo>
                    <a:pt x="0" y="7760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129142" t="-9972" r="-21421" b="-106818"/>
              </a:stretch>
            </a:blipFill>
          </p:spPr>
        </p:sp>
      </p:grpSp>
      <p:grpSp>
        <p:nvGrpSpPr>
          <p:cNvPr name="Group 55" id="55"/>
          <p:cNvGrpSpPr/>
          <p:nvPr/>
        </p:nvGrpSpPr>
        <p:grpSpPr>
          <a:xfrm rot="0">
            <a:off x="9355207" y="7740482"/>
            <a:ext cx="708698" cy="618734"/>
            <a:chOff x="0" y="0"/>
            <a:chExt cx="944931" cy="824979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944880" cy="824992"/>
            </a:xfrm>
            <a:custGeom>
              <a:avLst/>
              <a:gdLst/>
              <a:ahLst/>
              <a:cxnLst/>
              <a:rect r="r" b="b" t="t" l="l"/>
              <a:pathLst>
                <a:path h="824992" w="944880">
                  <a:moveTo>
                    <a:pt x="0" y="0"/>
                  </a:moveTo>
                  <a:lnTo>
                    <a:pt x="944880" y="0"/>
                  </a:lnTo>
                  <a:lnTo>
                    <a:pt x="944880" y="824992"/>
                  </a:lnTo>
                  <a:lnTo>
                    <a:pt x="0" y="8249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178510" t="-125167" r="-36846" b="-16100"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615315" y="9838487"/>
            <a:ext cx="1607763" cy="384048"/>
            <a:chOff x="0" y="0"/>
            <a:chExt cx="2143684" cy="512064"/>
          </a:xfrm>
        </p:grpSpPr>
        <p:sp>
          <p:nvSpPr>
            <p:cNvPr name="Freeform 7" id="7" descr="preencoded.png">
              <a:hlinkClick r:id="rId4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143633" cy="512064"/>
            </a:xfrm>
            <a:custGeom>
              <a:avLst/>
              <a:gdLst/>
              <a:ahLst/>
              <a:cxnLst/>
              <a:rect r="r" b="b" t="t" l="l"/>
              <a:pathLst>
                <a:path h="512064" w="2143633">
                  <a:moveTo>
                    <a:pt x="0" y="0"/>
                  </a:moveTo>
                  <a:lnTo>
                    <a:pt x="2143633" y="0"/>
                  </a:lnTo>
                  <a:lnTo>
                    <a:pt x="2143633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92210" y="900112"/>
            <a:ext cx="16303114" cy="4987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6"/>
              </a:lnSpc>
            </a:pPr>
            <a:r>
              <a:rPr lang="en-US" b="true" sz="2775" spc="-55">
                <a:solidFill>
                  <a:srgbClr val="38AFFF"/>
                </a:solidFill>
                <a:latin typeface="Arimo Bold"/>
                <a:ea typeface="Arimo Bold"/>
                <a:cs typeface="Arimo Bold"/>
                <a:sym typeface="Arimo Bold"/>
              </a:rPr>
              <a:t>SYSTEM FLOW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10" y="1436046"/>
            <a:ext cx="16303114" cy="9975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92"/>
              </a:lnSpc>
            </a:pPr>
            <a:r>
              <a:rPr lang="en-US" b="true" sz="5550" spc="-111">
                <a:solidFill>
                  <a:srgbClr val="F2F5FA"/>
                </a:solidFill>
                <a:latin typeface="Arimo Bold"/>
                <a:ea typeface="Arimo Bold"/>
                <a:cs typeface="Arimo Bold"/>
                <a:sym typeface="Arimo Bold"/>
              </a:rPr>
              <a:t>HOW C.A.R.E WORKS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2804741" y="2858843"/>
            <a:ext cx="12678051" cy="5802516"/>
            <a:chOff x="0" y="0"/>
            <a:chExt cx="16904068" cy="7736688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16904081" cy="7736713"/>
            </a:xfrm>
            <a:custGeom>
              <a:avLst/>
              <a:gdLst/>
              <a:ahLst/>
              <a:cxnLst/>
              <a:rect r="r" b="b" t="t" l="l"/>
              <a:pathLst>
                <a:path h="7736713" w="16904081">
                  <a:moveTo>
                    <a:pt x="0" y="0"/>
                  </a:moveTo>
                  <a:lnTo>
                    <a:pt x="16904081" y="0"/>
                  </a:lnTo>
                  <a:lnTo>
                    <a:pt x="16904081" y="7736713"/>
                  </a:lnTo>
                  <a:lnTo>
                    <a:pt x="0" y="7736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-30" r="0" b="-29"/>
              </a:stretch>
            </a:blip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12512411" y="7236171"/>
            <a:ext cx="2380221" cy="514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3"/>
              </a:lnSpc>
            </a:pPr>
            <a:r>
              <a:rPr lang="en-US" b="true" sz="2850" spc="-58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ALERT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512675" y="7236171"/>
            <a:ext cx="2380221" cy="514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3"/>
              </a:lnSpc>
            </a:pPr>
            <a:r>
              <a:rPr lang="en-US" b="true" sz="2850" spc="-58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DETECT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529245" y="7236171"/>
            <a:ext cx="2380221" cy="514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3"/>
              </a:lnSpc>
            </a:pPr>
            <a:r>
              <a:rPr lang="en-US" b="true" sz="2850" spc="-58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SCAN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480597" y="7236171"/>
            <a:ext cx="2380221" cy="514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93"/>
              </a:lnSpc>
            </a:pPr>
            <a:r>
              <a:rPr lang="en-US" b="true" sz="2850" spc="-58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CAR OFF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535019" y="8942184"/>
            <a:ext cx="17217495" cy="4066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18"/>
              </a:lnSpc>
            </a:pPr>
            <a:r>
              <a:rPr lang="en-US" sz="217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The entire process runs automatically after vehicle shutdown - no driver activation required.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496105" y="7714593"/>
            <a:ext cx="2790092" cy="514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18"/>
              </a:lnSpc>
            </a:pPr>
            <a:r>
              <a:rPr lang="en-US" sz="217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Driver is notified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275657" y="7714593"/>
            <a:ext cx="2790092" cy="514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18"/>
              </a:lnSpc>
            </a:pPr>
            <a:r>
              <a:rPr lang="en-US" sz="217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Vehicle shuts down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307744" y="7714593"/>
            <a:ext cx="2790092" cy="514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18"/>
              </a:lnSpc>
            </a:pPr>
            <a:r>
              <a:rPr lang="en-US" sz="217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Either source detects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324305" y="7714593"/>
            <a:ext cx="2790092" cy="514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18"/>
              </a:lnSpc>
            </a:pPr>
            <a:r>
              <a:rPr lang="en-US" sz="217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PIR + Camera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6468125" y="129626"/>
            <a:ext cx="1654407" cy="1840859"/>
            <a:chOff x="0" y="0"/>
            <a:chExt cx="2205876" cy="2454478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205863" cy="2454529"/>
            </a:xfrm>
            <a:custGeom>
              <a:avLst/>
              <a:gdLst/>
              <a:ahLst/>
              <a:cxnLst/>
              <a:rect r="r" b="b" t="t" l="l"/>
              <a:pathLst>
                <a:path h="2454529" w="2205863">
                  <a:moveTo>
                    <a:pt x="0" y="0"/>
                  </a:moveTo>
                  <a:lnTo>
                    <a:pt x="2205863" y="0"/>
                  </a:lnTo>
                  <a:lnTo>
                    <a:pt x="2205863" y="2454529"/>
                  </a:lnTo>
                  <a:lnTo>
                    <a:pt x="0" y="2454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48087" t="0" r="-49729" b="1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6520379" y="9747218"/>
            <a:ext cx="1673457" cy="479669"/>
            <a:chOff x="0" y="0"/>
            <a:chExt cx="2231276" cy="63955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231263" cy="639572"/>
            </a:xfrm>
            <a:custGeom>
              <a:avLst/>
              <a:gdLst/>
              <a:ahLst/>
              <a:cxnLst/>
              <a:rect r="r" b="b" t="t" l="l"/>
              <a:pathLst>
                <a:path h="639572" w="2231263">
                  <a:moveTo>
                    <a:pt x="0" y="0"/>
                  </a:moveTo>
                  <a:lnTo>
                    <a:pt x="2231263" y="0"/>
                  </a:lnTo>
                  <a:lnTo>
                    <a:pt x="2231263" y="639572"/>
                  </a:lnTo>
                  <a:lnTo>
                    <a:pt x="0" y="639572"/>
                  </a:lnTo>
                  <a:close/>
                </a:path>
              </a:pathLst>
            </a:custGeom>
            <a:solidFill>
              <a:srgbClr val="101620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>
              <a:hlinkClick r:id="rId4" tooltip="https://docs.google.com/presentation/d/1vOS8GX4lNJpu23BawIigWQBmRRlRLJu8/edit?usp=sharing&amp;ouid=105466671058208463286&amp;rtpof=true&amp;sd=true"/>
            </p:cNvPr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615315" y="9838487"/>
            <a:ext cx="1607763" cy="384048"/>
            <a:chOff x="0" y="0"/>
            <a:chExt cx="2143684" cy="512064"/>
          </a:xfrm>
        </p:grpSpPr>
        <p:sp>
          <p:nvSpPr>
            <p:cNvPr name="Freeform 7" id="7" descr="preencoded.png">
              <a:hlinkClick r:id="rId5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143633" cy="512064"/>
            </a:xfrm>
            <a:custGeom>
              <a:avLst/>
              <a:gdLst/>
              <a:ahLst/>
              <a:cxnLst/>
              <a:rect r="r" b="b" t="t" l="l"/>
              <a:pathLst>
                <a:path h="512064" w="2143633">
                  <a:moveTo>
                    <a:pt x="0" y="0"/>
                  </a:moveTo>
                  <a:lnTo>
                    <a:pt x="2143633" y="0"/>
                  </a:lnTo>
                  <a:lnTo>
                    <a:pt x="2143633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2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92210" y="753513"/>
            <a:ext cx="16303114" cy="4296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3"/>
              </a:lnSpc>
            </a:pPr>
            <a:r>
              <a:rPr lang="en-US" b="true" sz="2325" spc="-48">
                <a:solidFill>
                  <a:srgbClr val="38AFFF"/>
                </a:solidFill>
                <a:latin typeface="Arimo Bold"/>
                <a:ea typeface="Arimo Bold"/>
                <a:cs typeface="Arimo Bold"/>
                <a:sym typeface="Arimo Bold"/>
              </a:rPr>
              <a:t>DETECTION LOGIC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10" y="1198359"/>
            <a:ext cx="16303114" cy="849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3"/>
              </a:lnSpc>
            </a:pPr>
            <a:r>
              <a:rPr lang="en-US" b="true" sz="4725" spc="-94">
                <a:solidFill>
                  <a:srgbClr val="F2F5FA"/>
                </a:solidFill>
                <a:latin typeface="Arimo Bold"/>
                <a:ea typeface="Arimo Bold"/>
                <a:cs typeface="Arimo Bold"/>
                <a:sym typeface="Arimo Bold"/>
              </a:rPr>
              <a:t>TWO DETECTION SOURCES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447219" y="7288854"/>
            <a:ext cx="7857630" cy="778373"/>
            <a:chOff x="0" y="0"/>
            <a:chExt cx="10476840" cy="103783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476865" cy="1037844"/>
            </a:xfrm>
            <a:custGeom>
              <a:avLst/>
              <a:gdLst/>
              <a:ahLst/>
              <a:cxnLst/>
              <a:rect r="r" b="b" t="t" l="l"/>
              <a:pathLst>
                <a:path h="1037844" w="10476865">
                  <a:moveTo>
                    <a:pt x="0" y="135001"/>
                  </a:moveTo>
                  <a:cubicBezTo>
                    <a:pt x="0" y="60452"/>
                    <a:pt x="60452" y="0"/>
                    <a:pt x="135001" y="0"/>
                  </a:cubicBezTo>
                  <a:lnTo>
                    <a:pt x="10341864" y="0"/>
                  </a:lnTo>
                  <a:cubicBezTo>
                    <a:pt x="10416413" y="0"/>
                    <a:pt x="10476865" y="60452"/>
                    <a:pt x="10476865" y="135001"/>
                  </a:cubicBezTo>
                  <a:lnTo>
                    <a:pt x="10476865" y="902843"/>
                  </a:lnTo>
                  <a:cubicBezTo>
                    <a:pt x="10476865" y="977392"/>
                    <a:pt x="10416413" y="1037844"/>
                    <a:pt x="10341864" y="1037844"/>
                  </a:cubicBezTo>
                  <a:lnTo>
                    <a:pt x="135001" y="1037844"/>
                  </a:lnTo>
                  <a:cubicBezTo>
                    <a:pt x="60452" y="1037844"/>
                    <a:pt x="0" y="977392"/>
                    <a:pt x="0" y="902843"/>
                  </a:cubicBezTo>
                  <a:close/>
                </a:path>
              </a:pathLst>
            </a:custGeom>
            <a:solidFill>
              <a:srgbClr val="002A80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688173" y="7571480"/>
            <a:ext cx="301219" cy="240954"/>
            <a:chOff x="0" y="0"/>
            <a:chExt cx="401625" cy="321272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401574" cy="321310"/>
            </a:xfrm>
            <a:custGeom>
              <a:avLst/>
              <a:gdLst/>
              <a:ahLst/>
              <a:cxnLst/>
              <a:rect r="r" b="b" t="t" l="l"/>
              <a:pathLst>
                <a:path h="321310" w="401574">
                  <a:moveTo>
                    <a:pt x="0" y="0"/>
                  </a:moveTo>
                  <a:lnTo>
                    <a:pt x="401574" y="0"/>
                  </a:lnTo>
                  <a:lnTo>
                    <a:pt x="401574" y="321310"/>
                  </a:lnTo>
                  <a:lnTo>
                    <a:pt x="0" y="3213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786" r="-12" b="-774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6468125" y="129626"/>
            <a:ext cx="1654407" cy="1840859"/>
            <a:chOff x="0" y="0"/>
            <a:chExt cx="2205876" cy="245447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05863" cy="2454529"/>
            </a:xfrm>
            <a:custGeom>
              <a:avLst/>
              <a:gdLst/>
              <a:ahLst/>
              <a:cxnLst/>
              <a:rect r="r" b="b" t="t" l="l"/>
              <a:pathLst>
                <a:path h="2454529" w="2205863">
                  <a:moveTo>
                    <a:pt x="0" y="0"/>
                  </a:moveTo>
                  <a:lnTo>
                    <a:pt x="2205863" y="0"/>
                  </a:lnTo>
                  <a:lnTo>
                    <a:pt x="2205863" y="2454529"/>
                  </a:lnTo>
                  <a:lnTo>
                    <a:pt x="0" y="2454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48087" t="0" r="-49729" b="1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6520379" y="9747218"/>
            <a:ext cx="1673457" cy="479669"/>
            <a:chOff x="0" y="0"/>
            <a:chExt cx="2231276" cy="63955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31263" cy="639572"/>
            </a:xfrm>
            <a:custGeom>
              <a:avLst/>
              <a:gdLst/>
              <a:ahLst/>
              <a:cxnLst/>
              <a:rect r="r" b="b" t="t" l="l"/>
              <a:pathLst>
                <a:path h="639572" w="2231263">
                  <a:moveTo>
                    <a:pt x="0" y="0"/>
                  </a:moveTo>
                  <a:lnTo>
                    <a:pt x="2231263" y="0"/>
                  </a:lnTo>
                  <a:lnTo>
                    <a:pt x="2231263" y="639572"/>
                  </a:lnTo>
                  <a:lnTo>
                    <a:pt x="0" y="639572"/>
                  </a:lnTo>
                  <a:close/>
                </a:path>
              </a:pathLst>
            </a:custGeom>
            <a:solidFill>
              <a:srgbClr val="101620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309715" y="3186008"/>
            <a:ext cx="8753923" cy="5835948"/>
            <a:chOff x="0" y="0"/>
            <a:chExt cx="11671897" cy="778126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1671935" cy="7781290"/>
            </a:xfrm>
            <a:custGeom>
              <a:avLst/>
              <a:gdLst/>
              <a:ahLst/>
              <a:cxnLst/>
              <a:rect r="r" b="b" t="t" l="l"/>
              <a:pathLst>
                <a:path h="7781290" w="11671935">
                  <a:moveTo>
                    <a:pt x="0" y="0"/>
                  </a:moveTo>
                  <a:lnTo>
                    <a:pt x="11671935" y="0"/>
                  </a:lnTo>
                  <a:lnTo>
                    <a:pt x="11671935" y="7781290"/>
                  </a:lnTo>
                  <a:lnTo>
                    <a:pt x="0" y="77812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0"/>
              </a:stretch>
            </a:blipFill>
          </p:spPr>
        </p:sp>
      </p:grpSp>
      <p:sp>
        <p:nvSpPr>
          <p:cNvPr name="Freeform 20" id="20"/>
          <p:cNvSpPr/>
          <p:nvPr/>
        </p:nvSpPr>
        <p:spPr>
          <a:xfrm flipH="false" flipV="false" rot="0">
            <a:off x="9530169" y="5064766"/>
            <a:ext cx="3663205" cy="2010829"/>
          </a:xfrm>
          <a:custGeom>
            <a:avLst/>
            <a:gdLst/>
            <a:ahLst/>
            <a:cxnLst/>
            <a:rect r="r" b="b" t="t" l="l"/>
            <a:pathLst>
              <a:path h="2010829" w="3663205">
                <a:moveTo>
                  <a:pt x="0" y="0"/>
                </a:moveTo>
                <a:lnTo>
                  <a:pt x="3663205" y="0"/>
                </a:lnTo>
                <a:lnTo>
                  <a:pt x="3663205" y="2010829"/>
                </a:lnTo>
                <a:lnTo>
                  <a:pt x="0" y="201082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9447219" y="3719512"/>
            <a:ext cx="7857630" cy="5079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96"/>
              </a:lnSpc>
            </a:pPr>
            <a:r>
              <a:rPr lang="en-US" b="true" sz="2775" spc="-56">
                <a:solidFill>
                  <a:srgbClr val="F2F5FA"/>
                </a:solidFill>
                <a:latin typeface="Arimo Bold"/>
                <a:ea typeface="Arimo Bold"/>
                <a:cs typeface="Arimo Bold"/>
                <a:sym typeface="Arimo Bold"/>
              </a:rPr>
              <a:t>Either source can trigger the alert.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447219" y="4403674"/>
            <a:ext cx="8772011" cy="318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The two detection inputs operate </a:t>
            </a:r>
            <a:r>
              <a:rPr lang="en-US" sz="1875" b="true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independently</a:t>
            </a:r>
            <a:r>
              <a:rPr lang="en-US" sz="187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831038" y="5183686"/>
            <a:ext cx="3173082" cy="4296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3"/>
              </a:lnSpc>
            </a:pPr>
            <a:r>
              <a:rPr lang="en-US" b="true" sz="2325" spc="-48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PIR Motion Sensor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831038" y="6017714"/>
            <a:ext cx="3173082" cy="607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Detects physical motion inside the vehicle.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13480809" y="5064766"/>
            <a:ext cx="3663205" cy="2010829"/>
          </a:xfrm>
          <a:custGeom>
            <a:avLst/>
            <a:gdLst/>
            <a:ahLst/>
            <a:cxnLst/>
            <a:rect r="r" b="b" t="t" l="l"/>
            <a:pathLst>
              <a:path h="2010829" w="3663205">
                <a:moveTo>
                  <a:pt x="0" y="0"/>
                </a:moveTo>
                <a:lnTo>
                  <a:pt x="3663205" y="0"/>
                </a:lnTo>
                <a:lnTo>
                  <a:pt x="3663205" y="2010829"/>
                </a:lnTo>
                <a:lnTo>
                  <a:pt x="0" y="201082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13862247" y="5183686"/>
            <a:ext cx="3173082" cy="8212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3"/>
              </a:lnSpc>
            </a:pPr>
            <a:r>
              <a:rPr lang="en-US" b="true" sz="2325" spc="-48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Camera + Image Analysis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3862247" y="6074426"/>
            <a:ext cx="3173082" cy="6078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Detects body or face presence visually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230336" y="7504662"/>
            <a:ext cx="7747949" cy="318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OR logic — not AND.</a:t>
            </a:r>
            <a:r>
              <a:rPr lang="en-US" sz="1875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One trigger is all it takes.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615315" y="9838487"/>
            <a:ext cx="1607763" cy="384048"/>
            <a:chOff x="0" y="0"/>
            <a:chExt cx="2143684" cy="512064"/>
          </a:xfrm>
        </p:grpSpPr>
        <p:sp>
          <p:nvSpPr>
            <p:cNvPr name="Freeform 7" id="7" descr="preencoded.png">
              <a:hlinkClick r:id="rId4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143633" cy="512064"/>
            </a:xfrm>
            <a:custGeom>
              <a:avLst/>
              <a:gdLst/>
              <a:ahLst/>
              <a:cxnLst/>
              <a:rect r="r" b="b" t="t" l="l"/>
              <a:pathLst>
                <a:path h="512064" w="2143633">
                  <a:moveTo>
                    <a:pt x="0" y="0"/>
                  </a:moveTo>
                  <a:lnTo>
                    <a:pt x="2143633" y="0"/>
                  </a:lnTo>
                  <a:lnTo>
                    <a:pt x="2143633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92210" y="1045664"/>
            <a:ext cx="16303114" cy="3375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b="true" sz="1800" spc="-36">
                <a:solidFill>
                  <a:srgbClr val="38AFFF"/>
                </a:solidFill>
                <a:latin typeface="Arimo Bold"/>
                <a:ea typeface="Arimo Bold"/>
                <a:cs typeface="Arimo Bold"/>
                <a:sym typeface="Arimo Bold"/>
              </a:rPr>
              <a:t>HARDWARE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10" y="1373829"/>
            <a:ext cx="16303114" cy="6560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65"/>
              </a:lnSpc>
            </a:pPr>
            <a:r>
              <a:rPr lang="en-US" b="true" sz="3600" spc="-72">
                <a:solidFill>
                  <a:srgbClr val="F2F5FA"/>
                </a:solidFill>
                <a:latin typeface="Arimo Bold"/>
                <a:ea typeface="Arimo Bold"/>
                <a:cs typeface="Arimo Bold"/>
                <a:sym typeface="Arimo Bold"/>
              </a:rPr>
              <a:t>THE SYSTEM WE BUILT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378020" y="1768459"/>
            <a:ext cx="368484" cy="239468"/>
            <a:chOff x="0" y="0"/>
            <a:chExt cx="491312" cy="31929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91318" cy="319286"/>
            </a:xfrm>
            <a:custGeom>
              <a:avLst/>
              <a:gdLst/>
              <a:ahLst/>
              <a:cxnLst/>
              <a:rect r="r" b="b" t="t" l="l"/>
              <a:pathLst>
                <a:path h="319286" w="491318">
                  <a:moveTo>
                    <a:pt x="0" y="0"/>
                  </a:moveTo>
                  <a:lnTo>
                    <a:pt x="491318" y="0"/>
                  </a:lnTo>
                  <a:lnTo>
                    <a:pt x="491318" y="319286"/>
                  </a:lnTo>
                  <a:lnTo>
                    <a:pt x="0" y="31928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33380" t="0" r="-33379" b="-1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491312" cy="3383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 spc="-28">
                  <a:solidFill>
                    <a:srgbClr val="EBEDF0"/>
                  </a:solidFill>
                  <a:latin typeface="Arimo"/>
                  <a:ea typeface="Arimo"/>
                  <a:cs typeface="Arimo"/>
                  <a:sym typeface="Arimo"/>
                </a:rPr>
                <a:t>01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378020" y="2071621"/>
            <a:ext cx="7926838" cy="19050"/>
            <a:chOff x="0" y="0"/>
            <a:chExt cx="10569118" cy="254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569067" cy="25400"/>
            </a:xfrm>
            <a:custGeom>
              <a:avLst/>
              <a:gdLst/>
              <a:ahLst/>
              <a:cxnLst/>
              <a:rect r="r" b="b" t="t" l="l"/>
              <a:pathLst>
                <a:path h="25400" w="10569067">
                  <a:moveTo>
                    <a:pt x="0" y="0"/>
                  </a:moveTo>
                  <a:lnTo>
                    <a:pt x="10569067" y="0"/>
                  </a:lnTo>
                  <a:lnTo>
                    <a:pt x="10569067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87CFF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9378020" y="2163747"/>
            <a:ext cx="7926838" cy="3375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b="true" sz="1800" spc="-36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Raspberry Pi 4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378020" y="2620947"/>
            <a:ext cx="7926838" cy="1974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1"/>
              </a:lnSpc>
            </a:pPr>
            <a:r>
              <a:rPr lang="en-US" sz="142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Main processing unit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78020" y="3076213"/>
            <a:ext cx="368484" cy="239468"/>
            <a:chOff x="0" y="0"/>
            <a:chExt cx="491312" cy="319291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91318" cy="319286"/>
            </a:xfrm>
            <a:custGeom>
              <a:avLst/>
              <a:gdLst/>
              <a:ahLst/>
              <a:cxnLst/>
              <a:rect r="r" b="b" t="t" l="l"/>
              <a:pathLst>
                <a:path h="319286" w="491318">
                  <a:moveTo>
                    <a:pt x="0" y="0"/>
                  </a:moveTo>
                  <a:lnTo>
                    <a:pt x="491318" y="0"/>
                  </a:lnTo>
                  <a:lnTo>
                    <a:pt x="491318" y="319286"/>
                  </a:lnTo>
                  <a:lnTo>
                    <a:pt x="0" y="31928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33380" t="0" r="-33379" b="-1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491312" cy="3383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 spc="-28">
                  <a:solidFill>
                    <a:srgbClr val="EBEDF0"/>
                  </a:solidFill>
                  <a:latin typeface="Arimo"/>
                  <a:ea typeface="Arimo"/>
                  <a:cs typeface="Arimo"/>
                  <a:sym typeface="Arimo"/>
                </a:rPr>
                <a:t>02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378020" y="3360915"/>
            <a:ext cx="7926838" cy="19050"/>
            <a:chOff x="0" y="0"/>
            <a:chExt cx="10569118" cy="25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569067" cy="25400"/>
            </a:xfrm>
            <a:custGeom>
              <a:avLst/>
              <a:gdLst/>
              <a:ahLst/>
              <a:cxnLst/>
              <a:rect r="r" b="b" t="t" l="l"/>
              <a:pathLst>
                <a:path h="25400" w="10569067">
                  <a:moveTo>
                    <a:pt x="0" y="0"/>
                  </a:moveTo>
                  <a:lnTo>
                    <a:pt x="10569067" y="0"/>
                  </a:lnTo>
                  <a:lnTo>
                    <a:pt x="10569067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87CFF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9378020" y="3471501"/>
            <a:ext cx="7926838" cy="3375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b="true" sz="1800" spc="-36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Camera Module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378020" y="3928701"/>
            <a:ext cx="7926838" cy="1974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1"/>
              </a:lnSpc>
            </a:pPr>
            <a:r>
              <a:rPr lang="en-US" sz="142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Captures images for visual analysis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9378020" y="4383957"/>
            <a:ext cx="368484" cy="239468"/>
            <a:chOff x="0" y="0"/>
            <a:chExt cx="491312" cy="319291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91318" cy="319286"/>
            </a:xfrm>
            <a:custGeom>
              <a:avLst/>
              <a:gdLst/>
              <a:ahLst/>
              <a:cxnLst/>
              <a:rect r="r" b="b" t="t" l="l"/>
              <a:pathLst>
                <a:path h="319286" w="491318">
                  <a:moveTo>
                    <a:pt x="0" y="0"/>
                  </a:moveTo>
                  <a:lnTo>
                    <a:pt x="491318" y="0"/>
                  </a:lnTo>
                  <a:lnTo>
                    <a:pt x="491318" y="319286"/>
                  </a:lnTo>
                  <a:lnTo>
                    <a:pt x="0" y="31928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33380" t="0" r="-33379" b="-1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491312" cy="3383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 spc="-28">
                  <a:solidFill>
                    <a:srgbClr val="EBEDF0"/>
                  </a:solidFill>
                  <a:latin typeface="Arimo"/>
                  <a:ea typeface="Arimo"/>
                  <a:cs typeface="Arimo"/>
                  <a:sym typeface="Arimo"/>
                </a:rPr>
                <a:t>03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9378020" y="4650362"/>
            <a:ext cx="7926838" cy="19050"/>
            <a:chOff x="0" y="0"/>
            <a:chExt cx="10569118" cy="254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0569067" cy="25400"/>
            </a:xfrm>
            <a:custGeom>
              <a:avLst/>
              <a:gdLst/>
              <a:ahLst/>
              <a:cxnLst/>
              <a:rect r="r" b="b" t="t" l="l"/>
              <a:pathLst>
                <a:path h="25400" w="10569067">
                  <a:moveTo>
                    <a:pt x="0" y="0"/>
                  </a:moveTo>
                  <a:lnTo>
                    <a:pt x="10569067" y="0"/>
                  </a:lnTo>
                  <a:lnTo>
                    <a:pt x="10569067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87CFF"/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9378020" y="4779245"/>
            <a:ext cx="7926838" cy="3375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b="true" sz="1800" spc="-36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PIR Motion Sensor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378020" y="5236445"/>
            <a:ext cx="7926838" cy="1974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1"/>
              </a:lnSpc>
            </a:pPr>
            <a:r>
              <a:rPr lang="en-US" sz="142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Provides independent motion detection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9378020" y="5691711"/>
            <a:ext cx="368484" cy="239468"/>
            <a:chOff x="0" y="0"/>
            <a:chExt cx="491312" cy="319291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91318" cy="319286"/>
            </a:xfrm>
            <a:custGeom>
              <a:avLst/>
              <a:gdLst/>
              <a:ahLst/>
              <a:cxnLst/>
              <a:rect r="r" b="b" t="t" l="l"/>
              <a:pathLst>
                <a:path h="319286" w="491318">
                  <a:moveTo>
                    <a:pt x="0" y="0"/>
                  </a:moveTo>
                  <a:lnTo>
                    <a:pt x="491318" y="0"/>
                  </a:lnTo>
                  <a:lnTo>
                    <a:pt x="491318" y="319286"/>
                  </a:lnTo>
                  <a:lnTo>
                    <a:pt x="0" y="31928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33380" t="0" r="-33379" b="-1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491312" cy="3383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 spc="-28">
                  <a:solidFill>
                    <a:srgbClr val="EBEDF0"/>
                  </a:solidFill>
                  <a:latin typeface="Arimo"/>
                  <a:ea typeface="Arimo"/>
                  <a:cs typeface="Arimo"/>
                  <a:sym typeface="Arimo"/>
                </a:rPr>
                <a:t>04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9378020" y="5939657"/>
            <a:ext cx="7926838" cy="19050"/>
            <a:chOff x="0" y="0"/>
            <a:chExt cx="10569118" cy="254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569067" cy="25400"/>
            </a:xfrm>
            <a:custGeom>
              <a:avLst/>
              <a:gdLst/>
              <a:ahLst/>
              <a:cxnLst/>
              <a:rect r="r" b="b" t="t" l="l"/>
              <a:pathLst>
                <a:path h="25400" w="10569067">
                  <a:moveTo>
                    <a:pt x="0" y="0"/>
                  </a:moveTo>
                  <a:lnTo>
                    <a:pt x="10569067" y="0"/>
                  </a:lnTo>
                  <a:lnTo>
                    <a:pt x="10569067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87CFF"/>
            </a:solidFill>
          </p:spPr>
        </p:sp>
      </p:grpSp>
      <p:sp>
        <p:nvSpPr>
          <p:cNvPr name="TextBox 36" id="36"/>
          <p:cNvSpPr txBox="true"/>
          <p:nvPr/>
        </p:nvSpPr>
        <p:spPr>
          <a:xfrm rot="0">
            <a:off x="9378020" y="6086999"/>
            <a:ext cx="7926838" cy="3375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b="true" sz="1800" spc="-36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AUTOMATIC CONNECTIVITY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9378020" y="6544199"/>
            <a:ext cx="7926838" cy="1974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1"/>
              </a:lnSpc>
            </a:pPr>
            <a:r>
              <a:rPr lang="en-US" sz="142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Uses known Wi-Fi when available; otherwise switches to the cellular network.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9378020" y="6999465"/>
            <a:ext cx="368484" cy="239468"/>
            <a:chOff x="0" y="0"/>
            <a:chExt cx="491312" cy="319291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91318" cy="319286"/>
            </a:xfrm>
            <a:custGeom>
              <a:avLst/>
              <a:gdLst/>
              <a:ahLst/>
              <a:cxnLst/>
              <a:rect r="r" b="b" t="t" l="l"/>
              <a:pathLst>
                <a:path h="319286" w="491318">
                  <a:moveTo>
                    <a:pt x="0" y="0"/>
                  </a:moveTo>
                  <a:lnTo>
                    <a:pt x="491318" y="0"/>
                  </a:lnTo>
                  <a:lnTo>
                    <a:pt x="491318" y="319286"/>
                  </a:lnTo>
                  <a:lnTo>
                    <a:pt x="0" y="31928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33380" t="0" r="-33379" b="-1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19050"/>
              <a:ext cx="491312" cy="3383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 spc="-28">
                  <a:solidFill>
                    <a:srgbClr val="EBEDF0"/>
                  </a:solidFill>
                  <a:latin typeface="Arimo"/>
                  <a:ea typeface="Arimo"/>
                  <a:cs typeface="Arimo"/>
                  <a:sym typeface="Arimo"/>
                </a:rPr>
                <a:t>05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9378020" y="7229113"/>
            <a:ext cx="7926838" cy="19050"/>
            <a:chOff x="0" y="0"/>
            <a:chExt cx="10569118" cy="254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569067" cy="25400"/>
            </a:xfrm>
            <a:custGeom>
              <a:avLst/>
              <a:gdLst/>
              <a:ahLst/>
              <a:cxnLst/>
              <a:rect r="r" b="b" t="t" l="l"/>
              <a:pathLst>
                <a:path h="25400" w="10569067">
                  <a:moveTo>
                    <a:pt x="0" y="0"/>
                  </a:moveTo>
                  <a:lnTo>
                    <a:pt x="10569067" y="0"/>
                  </a:lnTo>
                  <a:lnTo>
                    <a:pt x="10569067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87CFF"/>
            </a:solidFill>
          </p:spPr>
        </p:sp>
      </p:grpSp>
      <p:sp>
        <p:nvSpPr>
          <p:cNvPr name="TextBox 43" id="43"/>
          <p:cNvSpPr txBox="true"/>
          <p:nvPr/>
        </p:nvSpPr>
        <p:spPr>
          <a:xfrm rot="0">
            <a:off x="9378020" y="7394753"/>
            <a:ext cx="7926838" cy="3375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b="true" sz="1800" spc="-36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Cooling Fan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9378020" y="7851953"/>
            <a:ext cx="7926838" cy="1974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1"/>
              </a:lnSpc>
            </a:pPr>
            <a:r>
              <a:rPr lang="en-US" sz="142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Keeps the system cool during operation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6468125" y="129626"/>
            <a:ext cx="1654407" cy="1840859"/>
            <a:chOff x="0" y="0"/>
            <a:chExt cx="2205876" cy="2454478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205863" cy="2454529"/>
            </a:xfrm>
            <a:custGeom>
              <a:avLst/>
              <a:gdLst/>
              <a:ahLst/>
              <a:cxnLst/>
              <a:rect r="r" b="b" t="t" l="l"/>
              <a:pathLst>
                <a:path h="2454529" w="2205863">
                  <a:moveTo>
                    <a:pt x="0" y="0"/>
                  </a:moveTo>
                  <a:lnTo>
                    <a:pt x="2205863" y="0"/>
                  </a:lnTo>
                  <a:lnTo>
                    <a:pt x="2205863" y="2454529"/>
                  </a:lnTo>
                  <a:lnTo>
                    <a:pt x="0" y="2454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48087" t="0" r="-49729" b="1"/>
              </a:stretch>
            </a:blipFill>
          </p:spPr>
        </p:sp>
      </p:grpSp>
      <p:grpSp>
        <p:nvGrpSpPr>
          <p:cNvPr name="Group 47" id="47"/>
          <p:cNvGrpSpPr/>
          <p:nvPr/>
        </p:nvGrpSpPr>
        <p:grpSpPr>
          <a:xfrm rot="0">
            <a:off x="9378020" y="8318544"/>
            <a:ext cx="368484" cy="239468"/>
            <a:chOff x="0" y="0"/>
            <a:chExt cx="491312" cy="319291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91318" cy="319286"/>
            </a:xfrm>
            <a:custGeom>
              <a:avLst/>
              <a:gdLst/>
              <a:ahLst/>
              <a:cxnLst/>
              <a:rect r="r" b="b" t="t" l="l"/>
              <a:pathLst>
                <a:path h="319286" w="491318">
                  <a:moveTo>
                    <a:pt x="0" y="0"/>
                  </a:moveTo>
                  <a:lnTo>
                    <a:pt x="491318" y="0"/>
                  </a:lnTo>
                  <a:lnTo>
                    <a:pt x="491318" y="319286"/>
                  </a:lnTo>
                  <a:lnTo>
                    <a:pt x="0" y="319286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l="-33380" t="0" r="-33379" b="-1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19050"/>
              <a:ext cx="491312" cy="33834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09"/>
                </a:lnSpc>
              </a:pPr>
              <a:r>
                <a:rPr lang="en-US" sz="1425" spc="-28">
                  <a:solidFill>
                    <a:srgbClr val="EBEDF0"/>
                  </a:solidFill>
                  <a:latin typeface="Arimo"/>
                  <a:ea typeface="Arimo"/>
                  <a:cs typeface="Arimo"/>
                  <a:sym typeface="Arimo"/>
                </a:rPr>
                <a:t>06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9378020" y="8548192"/>
            <a:ext cx="7926838" cy="19050"/>
            <a:chOff x="0" y="0"/>
            <a:chExt cx="10569118" cy="254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0569067" cy="25400"/>
            </a:xfrm>
            <a:custGeom>
              <a:avLst/>
              <a:gdLst/>
              <a:ahLst/>
              <a:cxnLst/>
              <a:rect r="r" b="b" t="t" l="l"/>
              <a:pathLst>
                <a:path h="25400" w="10569067">
                  <a:moveTo>
                    <a:pt x="0" y="0"/>
                  </a:moveTo>
                  <a:lnTo>
                    <a:pt x="10569067" y="0"/>
                  </a:lnTo>
                  <a:lnTo>
                    <a:pt x="10569067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487CFF"/>
            </a:solidFill>
          </p:spPr>
        </p:sp>
      </p:grpSp>
      <p:sp>
        <p:nvSpPr>
          <p:cNvPr name="TextBox 52" id="52"/>
          <p:cNvSpPr txBox="true"/>
          <p:nvPr/>
        </p:nvSpPr>
        <p:spPr>
          <a:xfrm rot="0">
            <a:off x="9378020" y="8713832"/>
            <a:ext cx="7926838" cy="3375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32"/>
              </a:lnSpc>
            </a:pPr>
            <a:r>
              <a:rPr lang="en-US" b="true" sz="1800" spc="-36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Backup Power System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9378020" y="9171032"/>
            <a:ext cx="7926838" cy="1974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21"/>
              </a:lnSpc>
            </a:pPr>
            <a:r>
              <a:rPr lang="en-US" sz="1425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Recharges while driving and powers C.A.R.E after vehicle shutdown.</a:t>
            </a:r>
          </a:p>
        </p:txBody>
      </p:sp>
      <p:grpSp>
        <p:nvGrpSpPr>
          <p:cNvPr name="Group 54" id="54"/>
          <p:cNvGrpSpPr/>
          <p:nvPr/>
        </p:nvGrpSpPr>
        <p:grpSpPr>
          <a:xfrm rot="0">
            <a:off x="16520379" y="9747218"/>
            <a:ext cx="1673457" cy="479669"/>
            <a:chOff x="0" y="0"/>
            <a:chExt cx="2231276" cy="639559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231263" cy="639572"/>
            </a:xfrm>
            <a:custGeom>
              <a:avLst/>
              <a:gdLst/>
              <a:ahLst/>
              <a:cxnLst/>
              <a:rect r="r" b="b" t="t" l="l"/>
              <a:pathLst>
                <a:path h="639572" w="2231263">
                  <a:moveTo>
                    <a:pt x="0" y="0"/>
                  </a:moveTo>
                  <a:lnTo>
                    <a:pt x="2231263" y="0"/>
                  </a:lnTo>
                  <a:lnTo>
                    <a:pt x="2231263" y="639572"/>
                  </a:lnTo>
                  <a:lnTo>
                    <a:pt x="0" y="639572"/>
                  </a:lnTo>
                  <a:close/>
                </a:path>
              </a:pathLst>
            </a:custGeom>
            <a:solidFill>
              <a:srgbClr val="101620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name="Group 56" id="56"/>
          <p:cNvGrpSpPr/>
          <p:nvPr/>
        </p:nvGrpSpPr>
        <p:grpSpPr>
          <a:xfrm rot="0">
            <a:off x="277358" y="2880198"/>
            <a:ext cx="8466830" cy="5644553"/>
            <a:chOff x="0" y="0"/>
            <a:chExt cx="11289106" cy="7526071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1289157" cy="7526020"/>
            </a:xfrm>
            <a:custGeom>
              <a:avLst/>
              <a:gdLst/>
              <a:ahLst/>
              <a:cxnLst/>
              <a:rect r="r" b="b" t="t" l="l"/>
              <a:pathLst>
                <a:path h="7526020" w="11289157">
                  <a:moveTo>
                    <a:pt x="0" y="0"/>
                  </a:moveTo>
                  <a:lnTo>
                    <a:pt x="11289157" y="0"/>
                  </a:lnTo>
                  <a:lnTo>
                    <a:pt x="11289157" y="7526020"/>
                  </a:lnTo>
                  <a:lnTo>
                    <a:pt x="0" y="75260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615315" y="9838487"/>
            <a:ext cx="1607763" cy="384048"/>
            <a:chOff x="0" y="0"/>
            <a:chExt cx="2143684" cy="512064"/>
          </a:xfrm>
        </p:grpSpPr>
        <p:sp>
          <p:nvSpPr>
            <p:cNvPr name="Freeform 7" id="7" descr="preencoded.png">
              <a:hlinkClick r:id="rId4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143633" cy="512064"/>
            </a:xfrm>
            <a:custGeom>
              <a:avLst/>
              <a:gdLst/>
              <a:ahLst/>
              <a:cxnLst/>
              <a:rect r="r" b="b" t="t" l="l"/>
              <a:pathLst>
                <a:path h="512064" w="2143633">
                  <a:moveTo>
                    <a:pt x="0" y="0"/>
                  </a:moveTo>
                  <a:lnTo>
                    <a:pt x="2143633" y="0"/>
                  </a:lnTo>
                  <a:lnTo>
                    <a:pt x="2143633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992210" y="912609"/>
            <a:ext cx="16303114" cy="433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3"/>
              </a:lnSpc>
            </a:pPr>
            <a:r>
              <a:rPr lang="en-US" b="true" sz="2325" spc="-48">
                <a:solidFill>
                  <a:srgbClr val="38AFFF"/>
                </a:solidFill>
                <a:latin typeface="Arimo Bold"/>
                <a:ea typeface="Arimo Bold"/>
                <a:cs typeface="Arimo Bold"/>
                <a:sym typeface="Arimo Bold"/>
              </a:rPr>
              <a:t>SYSTEM ARCHITECTURE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10" y="1362523"/>
            <a:ext cx="16303114" cy="8570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123"/>
              </a:lnSpc>
            </a:pPr>
            <a:r>
              <a:rPr lang="en-US" b="true" sz="4725" spc="-96">
                <a:solidFill>
                  <a:srgbClr val="F2F5FA"/>
                </a:solidFill>
                <a:latin typeface="Arimo Bold"/>
                <a:ea typeface="Arimo Bold"/>
                <a:cs typeface="Arimo Bold"/>
                <a:sym typeface="Arimo Bold"/>
              </a:rPr>
              <a:t>FROM DETECTION TO ALERT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35019" y="9023452"/>
            <a:ext cx="17217495" cy="3126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27"/>
              </a:lnSpc>
            </a:pPr>
            <a:r>
              <a:rPr lang="en-US" sz="2250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From detection to driver alert — automatically.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6468125" y="129626"/>
            <a:ext cx="1654407" cy="1840859"/>
            <a:chOff x="0" y="0"/>
            <a:chExt cx="2205876" cy="245447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05863" cy="2454529"/>
            </a:xfrm>
            <a:custGeom>
              <a:avLst/>
              <a:gdLst/>
              <a:ahLst/>
              <a:cxnLst/>
              <a:rect r="r" b="b" t="t" l="l"/>
              <a:pathLst>
                <a:path h="2454529" w="2205863">
                  <a:moveTo>
                    <a:pt x="0" y="0"/>
                  </a:moveTo>
                  <a:lnTo>
                    <a:pt x="2205863" y="0"/>
                  </a:lnTo>
                  <a:lnTo>
                    <a:pt x="2205863" y="2454529"/>
                  </a:lnTo>
                  <a:lnTo>
                    <a:pt x="0" y="2454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8087" t="0" r="-49729" b="1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6520379" y="9747218"/>
            <a:ext cx="1673457" cy="479669"/>
            <a:chOff x="0" y="0"/>
            <a:chExt cx="2231276" cy="639559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231263" cy="639572"/>
            </a:xfrm>
            <a:custGeom>
              <a:avLst/>
              <a:gdLst/>
              <a:ahLst/>
              <a:cxnLst/>
              <a:rect r="r" b="b" t="t" l="l"/>
              <a:pathLst>
                <a:path h="639572" w="2231263">
                  <a:moveTo>
                    <a:pt x="0" y="0"/>
                  </a:moveTo>
                  <a:lnTo>
                    <a:pt x="2231263" y="0"/>
                  </a:lnTo>
                  <a:lnTo>
                    <a:pt x="2231263" y="639572"/>
                  </a:lnTo>
                  <a:lnTo>
                    <a:pt x="0" y="639572"/>
                  </a:lnTo>
                  <a:close/>
                </a:path>
              </a:pathLst>
            </a:custGeom>
            <a:solidFill>
              <a:srgbClr val="101620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0" y="2146973"/>
            <a:ext cx="18288000" cy="5993054"/>
            <a:chOff x="0" y="0"/>
            <a:chExt cx="24384000" cy="799073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24384000" cy="7990713"/>
            </a:xfrm>
            <a:custGeom>
              <a:avLst/>
              <a:gdLst/>
              <a:ahLst/>
              <a:cxnLst/>
              <a:rect r="r" b="b" t="t" l="l"/>
              <a:pathLst>
                <a:path h="7990713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7990713"/>
                  </a:lnTo>
                  <a:lnTo>
                    <a:pt x="0" y="79907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615315" y="9838487"/>
            <a:ext cx="1607763" cy="384048"/>
            <a:chOff x="0" y="0"/>
            <a:chExt cx="2143684" cy="512064"/>
          </a:xfrm>
        </p:grpSpPr>
        <p:sp>
          <p:nvSpPr>
            <p:cNvPr name="Freeform 7" id="7" descr="preencoded.png">
              <a:hlinkClick r:id="rId4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143633" cy="512064"/>
            </a:xfrm>
            <a:custGeom>
              <a:avLst/>
              <a:gdLst/>
              <a:ahLst/>
              <a:cxnLst/>
              <a:rect r="r" b="b" t="t" l="l"/>
              <a:pathLst>
                <a:path h="512064" w="2143633">
                  <a:moveTo>
                    <a:pt x="0" y="0"/>
                  </a:moveTo>
                  <a:lnTo>
                    <a:pt x="2143633" y="0"/>
                  </a:lnTo>
                  <a:lnTo>
                    <a:pt x="2143633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5126" y="10258"/>
            <a:ext cx="10665047" cy="9746485"/>
            <a:chOff x="0" y="0"/>
            <a:chExt cx="14220063" cy="1299531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220062" cy="12995275"/>
            </a:xfrm>
            <a:custGeom>
              <a:avLst/>
              <a:gdLst/>
              <a:ahLst/>
              <a:cxnLst/>
              <a:rect r="r" b="b" t="t" l="l"/>
              <a:pathLst>
                <a:path h="12995275" w="14220062">
                  <a:moveTo>
                    <a:pt x="0" y="0"/>
                  </a:moveTo>
                  <a:lnTo>
                    <a:pt x="14220062" y="0"/>
                  </a:lnTo>
                  <a:lnTo>
                    <a:pt x="14220062" y="12995275"/>
                  </a:lnTo>
                  <a:lnTo>
                    <a:pt x="0" y="129952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7850038" y="564613"/>
            <a:ext cx="9445285" cy="9056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76"/>
              </a:lnSpc>
            </a:pPr>
            <a:r>
              <a:rPr lang="en-US" b="true" sz="6000" spc="-100">
                <a:solidFill>
                  <a:srgbClr val="F2F5FA"/>
                </a:solidFill>
                <a:latin typeface="Arimo Bold"/>
                <a:ea typeface="Arimo Bold"/>
                <a:cs typeface="Arimo Bold"/>
                <a:sym typeface="Arimo Bold"/>
              </a:rPr>
              <a:t>WHY </a:t>
            </a:r>
            <a:r>
              <a:rPr lang="en-US" b="true" sz="6000" spc="-100">
                <a:solidFill>
                  <a:srgbClr val="38AFFF"/>
                </a:solidFill>
                <a:latin typeface="Arimo Bold"/>
                <a:ea typeface="Arimo Bold"/>
                <a:cs typeface="Arimo Bold"/>
                <a:sym typeface="Arimo Bold"/>
              </a:rPr>
              <a:t>C.A.R.E?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7835751" y="1957092"/>
            <a:ext cx="9473860" cy="1463278"/>
            <a:chOff x="0" y="0"/>
            <a:chExt cx="12631814" cy="195103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2631927" cy="1951101"/>
            </a:xfrm>
            <a:custGeom>
              <a:avLst/>
              <a:gdLst/>
              <a:ahLst/>
              <a:cxnLst/>
              <a:rect r="r" b="b" t="t" l="l"/>
              <a:pathLst>
                <a:path h="1951101" w="12631927">
                  <a:moveTo>
                    <a:pt x="0" y="145796"/>
                  </a:moveTo>
                  <a:cubicBezTo>
                    <a:pt x="0" y="65278"/>
                    <a:pt x="65278" y="0"/>
                    <a:pt x="145796" y="0"/>
                  </a:cubicBezTo>
                  <a:lnTo>
                    <a:pt x="12486132" y="0"/>
                  </a:lnTo>
                  <a:cubicBezTo>
                    <a:pt x="12566650" y="0"/>
                    <a:pt x="12631927" y="65278"/>
                    <a:pt x="12631927" y="145796"/>
                  </a:cubicBezTo>
                  <a:lnTo>
                    <a:pt x="12631927" y="1805305"/>
                  </a:lnTo>
                  <a:cubicBezTo>
                    <a:pt x="12631927" y="1885823"/>
                    <a:pt x="12566650" y="1951101"/>
                    <a:pt x="12486132" y="1951101"/>
                  </a:cubicBezTo>
                  <a:lnTo>
                    <a:pt x="145796" y="1951101"/>
                  </a:lnTo>
                  <a:cubicBezTo>
                    <a:pt x="65278" y="1951101"/>
                    <a:pt x="0" y="1885823"/>
                    <a:pt x="0" y="1805305"/>
                  </a:cubicBez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  <a:ln w="28575" cap="sq">
              <a:solidFill>
                <a:srgbClr val="002A80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8110776" y="2216944"/>
            <a:ext cx="8877967" cy="452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b="true" sz="2475" spc="-49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AUTONOMOUS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133702" y="2718987"/>
            <a:ext cx="8877967" cy="34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10"/>
              </a:lnSpc>
            </a:pPr>
            <a:r>
              <a:rPr lang="en-US" sz="1950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Activates automatically after vehicle shutdown - no driver action </a:t>
            </a:r>
          </a:p>
          <a:p>
            <a:pPr algn="l">
              <a:lnSpc>
                <a:spcPts val="2410"/>
              </a:lnSpc>
            </a:pPr>
            <a:r>
              <a:rPr lang="en-US" sz="1950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required.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7835751" y="3621434"/>
            <a:ext cx="9473860" cy="1463278"/>
            <a:chOff x="0" y="0"/>
            <a:chExt cx="12631814" cy="1951038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631927" cy="1951101"/>
            </a:xfrm>
            <a:custGeom>
              <a:avLst/>
              <a:gdLst/>
              <a:ahLst/>
              <a:cxnLst/>
              <a:rect r="r" b="b" t="t" l="l"/>
              <a:pathLst>
                <a:path h="1951101" w="12631927">
                  <a:moveTo>
                    <a:pt x="0" y="145796"/>
                  </a:moveTo>
                  <a:cubicBezTo>
                    <a:pt x="0" y="65278"/>
                    <a:pt x="65278" y="0"/>
                    <a:pt x="145796" y="0"/>
                  </a:cubicBezTo>
                  <a:lnTo>
                    <a:pt x="12486132" y="0"/>
                  </a:lnTo>
                  <a:cubicBezTo>
                    <a:pt x="12566650" y="0"/>
                    <a:pt x="12631927" y="65278"/>
                    <a:pt x="12631927" y="145796"/>
                  </a:cubicBezTo>
                  <a:lnTo>
                    <a:pt x="12631927" y="1805305"/>
                  </a:lnTo>
                  <a:cubicBezTo>
                    <a:pt x="12631927" y="1885823"/>
                    <a:pt x="12566650" y="1951101"/>
                    <a:pt x="12486132" y="1951101"/>
                  </a:cubicBezTo>
                  <a:lnTo>
                    <a:pt x="145796" y="1951101"/>
                  </a:lnTo>
                  <a:cubicBezTo>
                    <a:pt x="65278" y="1951101"/>
                    <a:pt x="0" y="1885823"/>
                    <a:pt x="0" y="1805305"/>
                  </a:cubicBez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  <a:ln w="28575" cap="sq">
              <a:solidFill>
                <a:srgbClr val="002A80"/>
              </a:solidFill>
              <a:prstDash val="solid"/>
              <a:miter/>
            </a:ln>
          </p:spPr>
        </p:sp>
      </p:grpSp>
      <p:sp>
        <p:nvSpPr>
          <p:cNvPr name="TextBox 17" id="17"/>
          <p:cNvSpPr txBox="true"/>
          <p:nvPr/>
        </p:nvSpPr>
        <p:spPr>
          <a:xfrm rot="0">
            <a:off x="7489193" y="3881285"/>
            <a:ext cx="8877967" cy="452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b="true" sz="2475" spc="-49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          DUAL DETECTION</a:t>
            </a:r>
          </a:p>
          <a:p>
            <a:pPr algn="l">
              <a:lnSpc>
                <a:spcPts val="3207"/>
              </a:lnSpc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8133702" y="4383329"/>
            <a:ext cx="8877967" cy="34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10"/>
              </a:lnSpc>
            </a:pPr>
            <a:r>
              <a:rPr lang="en-US" sz="1950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PIR motion sensing and image analysis operate independently.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7835751" y="5285775"/>
            <a:ext cx="9473860" cy="1463278"/>
            <a:chOff x="0" y="0"/>
            <a:chExt cx="12631814" cy="195103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2631927" cy="1951101"/>
            </a:xfrm>
            <a:custGeom>
              <a:avLst/>
              <a:gdLst/>
              <a:ahLst/>
              <a:cxnLst/>
              <a:rect r="r" b="b" t="t" l="l"/>
              <a:pathLst>
                <a:path h="1951101" w="12631927">
                  <a:moveTo>
                    <a:pt x="0" y="145796"/>
                  </a:moveTo>
                  <a:cubicBezTo>
                    <a:pt x="0" y="65278"/>
                    <a:pt x="65278" y="0"/>
                    <a:pt x="145796" y="0"/>
                  </a:cubicBezTo>
                  <a:lnTo>
                    <a:pt x="12486132" y="0"/>
                  </a:lnTo>
                  <a:cubicBezTo>
                    <a:pt x="12566650" y="0"/>
                    <a:pt x="12631927" y="65278"/>
                    <a:pt x="12631927" y="145796"/>
                  </a:cubicBezTo>
                  <a:lnTo>
                    <a:pt x="12631927" y="1805305"/>
                  </a:lnTo>
                  <a:cubicBezTo>
                    <a:pt x="12631927" y="1885823"/>
                    <a:pt x="12566650" y="1951101"/>
                    <a:pt x="12486132" y="1951101"/>
                  </a:cubicBezTo>
                  <a:lnTo>
                    <a:pt x="145796" y="1951101"/>
                  </a:lnTo>
                  <a:cubicBezTo>
                    <a:pt x="65278" y="1951101"/>
                    <a:pt x="0" y="1885823"/>
                    <a:pt x="0" y="1805305"/>
                  </a:cubicBez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  <a:ln w="28575" cap="sq">
              <a:solidFill>
                <a:srgbClr val="002A80"/>
              </a:solidFill>
              <a:prstDash val="solid"/>
              <a:miter/>
            </a:ln>
          </p:spPr>
        </p:sp>
      </p:grpSp>
      <p:sp>
        <p:nvSpPr>
          <p:cNvPr name="TextBox 21" id="21"/>
          <p:cNvSpPr txBox="true"/>
          <p:nvPr/>
        </p:nvSpPr>
        <p:spPr>
          <a:xfrm rot="0">
            <a:off x="8084906" y="5541464"/>
            <a:ext cx="8877967" cy="452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b="true" sz="2475" spc="-49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RELIABLE CONNECTIVITY</a:t>
            </a:r>
          </a:p>
          <a:p>
            <a:pPr algn="l">
              <a:lnSpc>
                <a:spcPts val="3207"/>
              </a:lnSpc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8133702" y="6047680"/>
            <a:ext cx="8877967" cy="34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10"/>
              </a:lnSpc>
            </a:pPr>
            <a:r>
              <a:rPr lang="en-US" sz="1950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Uses known Wi-Fi when available, with 4G cellular fallback.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7835751" y="6950126"/>
            <a:ext cx="9473860" cy="1463278"/>
            <a:chOff x="0" y="0"/>
            <a:chExt cx="12631814" cy="195103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2631927" cy="1951101"/>
            </a:xfrm>
            <a:custGeom>
              <a:avLst/>
              <a:gdLst/>
              <a:ahLst/>
              <a:cxnLst/>
              <a:rect r="r" b="b" t="t" l="l"/>
              <a:pathLst>
                <a:path h="1951101" w="12631927">
                  <a:moveTo>
                    <a:pt x="0" y="145796"/>
                  </a:moveTo>
                  <a:cubicBezTo>
                    <a:pt x="0" y="65278"/>
                    <a:pt x="65278" y="0"/>
                    <a:pt x="145796" y="0"/>
                  </a:cubicBezTo>
                  <a:lnTo>
                    <a:pt x="12486132" y="0"/>
                  </a:lnTo>
                  <a:cubicBezTo>
                    <a:pt x="12566650" y="0"/>
                    <a:pt x="12631927" y="65278"/>
                    <a:pt x="12631927" y="145796"/>
                  </a:cubicBezTo>
                  <a:lnTo>
                    <a:pt x="12631927" y="1805305"/>
                  </a:lnTo>
                  <a:cubicBezTo>
                    <a:pt x="12631927" y="1885823"/>
                    <a:pt x="12566650" y="1951101"/>
                    <a:pt x="12486132" y="1951101"/>
                  </a:cubicBezTo>
                  <a:lnTo>
                    <a:pt x="145796" y="1951101"/>
                  </a:lnTo>
                  <a:cubicBezTo>
                    <a:pt x="65278" y="1951101"/>
                    <a:pt x="0" y="1885823"/>
                    <a:pt x="0" y="1805305"/>
                  </a:cubicBez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  <a:ln w="28575" cap="sq">
              <a:solidFill>
                <a:srgbClr val="002A80"/>
              </a:solidFill>
              <a:prstDash val="solid"/>
              <a:miter/>
            </a:ln>
          </p:spPr>
        </p:sp>
      </p:grpSp>
      <p:sp>
        <p:nvSpPr>
          <p:cNvPr name="TextBox 25" id="25"/>
          <p:cNvSpPr txBox="true"/>
          <p:nvPr/>
        </p:nvSpPr>
        <p:spPr>
          <a:xfrm rot="0">
            <a:off x="8133702" y="7209977"/>
            <a:ext cx="8877967" cy="452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7"/>
              </a:lnSpc>
            </a:pPr>
            <a:r>
              <a:rPr lang="en-US" b="true" sz="2475" spc="-49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UNIVERSAL DESIGN</a:t>
            </a:r>
          </a:p>
          <a:p>
            <a:pPr algn="l">
              <a:lnSpc>
                <a:spcPts val="3207"/>
              </a:lnSpc>
            </a:pPr>
          </a:p>
        </p:txBody>
      </p:sp>
      <p:sp>
        <p:nvSpPr>
          <p:cNvPr name="TextBox 26" id="26"/>
          <p:cNvSpPr txBox="true"/>
          <p:nvPr/>
        </p:nvSpPr>
        <p:spPr>
          <a:xfrm rot="0">
            <a:off x="8133702" y="7712021"/>
            <a:ext cx="8877967" cy="34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10"/>
              </a:lnSpc>
            </a:pPr>
            <a:r>
              <a:rPr lang="en-US" sz="1950">
                <a:solidFill>
                  <a:srgbClr val="EBEDF0"/>
                </a:solidFill>
                <a:latin typeface="Arimo"/>
                <a:ea typeface="Arimo"/>
                <a:cs typeface="Arimo"/>
                <a:sym typeface="Arimo"/>
              </a:rPr>
              <a:t>Standalone — no integration with the vehicle’s built-in systems.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7775477" y="8887273"/>
            <a:ext cx="9977037" cy="34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10"/>
              </a:lnSpc>
            </a:pPr>
            <a:r>
              <a:rPr lang="en-US" sz="1950" b="true">
                <a:solidFill>
                  <a:srgbClr val="EBEDF0"/>
                </a:solidFill>
                <a:latin typeface="Arimo Bold"/>
                <a:ea typeface="Arimo Bold"/>
                <a:cs typeface="Arimo Bold"/>
                <a:sym typeface="Arimo Bold"/>
              </a:rPr>
              <a:t>An extra layer of protection, without changing driver behavior.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7850038" y="8657482"/>
            <a:ext cx="28575" cy="831952"/>
            <a:chOff x="0" y="0"/>
            <a:chExt cx="38100" cy="1109269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8100" cy="1109218"/>
            </a:xfrm>
            <a:custGeom>
              <a:avLst/>
              <a:gdLst/>
              <a:ahLst/>
              <a:cxnLst/>
              <a:rect r="r" b="b" t="t" l="l"/>
              <a:pathLst>
                <a:path h="1109218" w="38100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1090168"/>
                  </a:lnTo>
                  <a:cubicBezTo>
                    <a:pt x="38100" y="1100709"/>
                    <a:pt x="29591" y="1109218"/>
                    <a:pt x="19050" y="1109218"/>
                  </a:cubicBezTo>
                  <a:cubicBezTo>
                    <a:pt x="8509" y="1109218"/>
                    <a:pt x="0" y="1100709"/>
                    <a:pt x="0" y="1090168"/>
                  </a:cubicBezTo>
                  <a:close/>
                </a:path>
              </a:pathLst>
            </a:custGeom>
            <a:solidFill>
              <a:srgbClr val="6296FF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6468125" y="129626"/>
            <a:ext cx="1654407" cy="1840859"/>
            <a:chOff x="0" y="0"/>
            <a:chExt cx="2205876" cy="245447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205863" cy="2454529"/>
            </a:xfrm>
            <a:custGeom>
              <a:avLst/>
              <a:gdLst/>
              <a:ahLst/>
              <a:cxnLst/>
              <a:rect r="r" b="b" t="t" l="l"/>
              <a:pathLst>
                <a:path h="2454529" w="2205863">
                  <a:moveTo>
                    <a:pt x="0" y="0"/>
                  </a:moveTo>
                  <a:lnTo>
                    <a:pt x="2205863" y="0"/>
                  </a:lnTo>
                  <a:lnTo>
                    <a:pt x="2205863" y="2454529"/>
                  </a:lnTo>
                  <a:lnTo>
                    <a:pt x="0" y="2454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48087" t="0" r="-49729" b="1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6520379" y="9747218"/>
            <a:ext cx="1673457" cy="479669"/>
            <a:chOff x="0" y="0"/>
            <a:chExt cx="2231276" cy="639559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31263" cy="639572"/>
            </a:xfrm>
            <a:custGeom>
              <a:avLst/>
              <a:gdLst/>
              <a:ahLst/>
              <a:cxnLst/>
              <a:rect r="r" b="b" t="t" l="l"/>
              <a:pathLst>
                <a:path h="639572" w="2231263">
                  <a:moveTo>
                    <a:pt x="0" y="0"/>
                  </a:moveTo>
                  <a:lnTo>
                    <a:pt x="2231263" y="0"/>
                  </a:lnTo>
                  <a:lnTo>
                    <a:pt x="2231263" y="639572"/>
                  </a:lnTo>
                  <a:lnTo>
                    <a:pt x="0" y="639572"/>
                  </a:lnTo>
                  <a:close/>
                </a:path>
              </a:pathLst>
            </a:custGeom>
            <a:solidFill>
              <a:srgbClr val="101620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16190966" y="2228850"/>
            <a:ext cx="890254" cy="932926"/>
            <a:chOff x="0" y="0"/>
            <a:chExt cx="1187006" cy="1243902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187069" cy="1243965"/>
            </a:xfrm>
            <a:custGeom>
              <a:avLst/>
              <a:gdLst/>
              <a:ahLst/>
              <a:cxnLst/>
              <a:rect r="r" b="b" t="t" l="l"/>
              <a:pathLst>
                <a:path h="1243965" w="1187069">
                  <a:moveTo>
                    <a:pt x="0" y="0"/>
                  </a:moveTo>
                  <a:lnTo>
                    <a:pt x="1187069" y="0"/>
                  </a:lnTo>
                  <a:lnTo>
                    <a:pt x="1187069" y="1243965"/>
                  </a:lnTo>
                  <a:lnTo>
                    <a:pt x="0" y="12439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5933" t="-66246" r="-270641" b="-65772"/>
              </a:stretch>
            </a:blip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6224628" y="3890200"/>
            <a:ext cx="921991" cy="1066886"/>
            <a:chOff x="0" y="0"/>
            <a:chExt cx="1229322" cy="1422514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29360" cy="1422527"/>
            </a:xfrm>
            <a:custGeom>
              <a:avLst/>
              <a:gdLst/>
              <a:ahLst/>
              <a:cxnLst/>
              <a:rect r="r" b="b" t="t" l="l"/>
              <a:pathLst>
                <a:path h="1422527" w="1229360">
                  <a:moveTo>
                    <a:pt x="0" y="0"/>
                  </a:moveTo>
                  <a:lnTo>
                    <a:pt x="1229360" y="0"/>
                  </a:lnTo>
                  <a:lnTo>
                    <a:pt x="1229360" y="1422527"/>
                  </a:lnTo>
                  <a:lnTo>
                    <a:pt x="0" y="14225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93032" t="-59097" r="-195184" b="-64569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16295637" y="5567601"/>
            <a:ext cx="902113" cy="995001"/>
            <a:chOff x="0" y="0"/>
            <a:chExt cx="1202817" cy="1326667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202817" cy="1326642"/>
            </a:xfrm>
            <a:custGeom>
              <a:avLst/>
              <a:gdLst/>
              <a:ahLst/>
              <a:cxnLst/>
              <a:rect r="r" b="b" t="t" l="l"/>
              <a:pathLst>
                <a:path h="1326642" w="1202817">
                  <a:moveTo>
                    <a:pt x="0" y="0"/>
                  </a:moveTo>
                  <a:lnTo>
                    <a:pt x="1202817" y="0"/>
                  </a:lnTo>
                  <a:lnTo>
                    <a:pt x="1202817" y="1326642"/>
                  </a:lnTo>
                  <a:lnTo>
                    <a:pt x="0" y="13266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175790" t="-63392" r="-90082" b="-57756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15458923" y="7159076"/>
            <a:ext cx="1816475" cy="1210980"/>
            <a:chOff x="0" y="0"/>
            <a:chExt cx="2421966" cy="16146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2422017" cy="1614678"/>
            </a:xfrm>
            <a:custGeom>
              <a:avLst/>
              <a:gdLst/>
              <a:ahLst/>
              <a:cxnLst/>
              <a:rect r="r" b="b" t="t" l="l"/>
              <a:pathLst>
                <a:path h="1614678" w="2422017">
                  <a:moveTo>
                    <a:pt x="0" y="0"/>
                  </a:moveTo>
                  <a:lnTo>
                    <a:pt x="2422017" y="0"/>
                  </a:lnTo>
                  <a:lnTo>
                    <a:pt x="2422017" y="1614678"/>
                  </a:lnTo>
                  <a:lnTo>
                    <a:pt x="0" y="16146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2" b="2"/>
              </a:stretch>
            </a:blipFill>
          </p:spPr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615315" y="9838487"/>
            <a:ext cx="1607763" cy="384048"/>
            <a:chOff x="0" y="0"/>
            <a:chExt cx="2143684" cy="512064"/>
          </a:xfrm>
        </p:grpSpPr>
        <p:sp>
          <p:nvSpPr>
            <p:cNvPr name="Freeform 4" id="4" descr="preencoded.png">
              <a:hlinkClick r:id="rId4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143633" cy="512064"/>
            </a:xfrm>
            <a:custGeom>
              <a:avLst/>
              <a:gdLst/>
              <a:ahLst/>
              <a:cxnLst/>
              <a:rect r="r" b="b" t="t" l="l"/>
              <a:pathLst>
                <a:path h="512064" w="2143633">
                  <a:moveTo>
                    <a:pt x="0" y="0"/>
                  </a:moveTo>
                  <a:lnTo>
                    <a:pt x="2143633" y="0"/>
                  </a:lnTo>
                  <a:lnTo>
                    <a:pt x="2143633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16468125" y="129626"/>
            <a:ext cx="1654407" cy="1840859"/>
            <a:chOff x="0" y="0"/>
            <a:chExt cx="2205876" cy="245447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05863" cy="2454529"/>
            </a:xfrm>
            <a:custGeom>
              <a:avLst/>
              <a:gdLst/>
              <a:ahLst/>
              <a:cxnLst/>
              <a:rect r="r" b="b" t="t" l="l"/>
              <a:pathLst>
                <a:path h="2454529" w="2205863">
                  <a:moveTo>
                    <a:pt x="0" y="0"/>
                  </a:moveTo>
                  <a:lnTo>
                    <a:pt x="2205863" y="0"/>
                  </a:lnTo>
                  <a:lnTo>
                    <a:pt x="2205863" y="2454529"/>
                  </a:lnTo>
                  <a:lnTo>
                    <a:pt x="0" y="2454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8087" t="0" r="-49729" b="1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16520379" y="9747218"/>
            <a:ext cx="1673457" cy="479669"/>
            <a:chOff x="0" y="0"/>
            <a:chExt cx="2231276" cy="6395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231263" cy="639572"/>
            </a:xfrm>
            <a:custGeom>
              <a:avLst/>
              <a:gdLst/>
              <a:ahLst/>
              <a:cxnLst/>
              <a:rect r="r" b="b" t="t" l="l"/>
              <a:pathLst>
                <a:path h="639572" w="2231263">
                  <a:moveTo>
                    <a:pt x="0" y="0"/>
                  </a:moveTo>
                  <a:lnTo>
                    <a:pt x="2231263" y="0"/>
                  </a:lnTo>
                  <a:lnTo>
                    <a:pt x="2231263" y="639572"/>
                  </a:lnTo>
                  <a:lnTo>
                    <a:pt x="0" y="639572"/>
                  </a:lnTo>
                  <a:close/>
                </a:path>
              </a:pathLst>
            </a:custGeom>
            <a:solidFill>
              <a:srgbClr val="101620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287543" cy="10287000"/>
            <a:chOff x="0" y="0"/>
            <a:chExt cx="24383390" cy="1371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3364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83364">
                  <a:moveTo>
                    <a:pt x="0" y="0"/>
                  </a:moveTo>
                  <a:lnTo>
                    <a:pt x="24383364" y="0"/>
                  </a:lnTo>
                  <a:lnTo>
                    <a:pt x="24383364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101620">
                <a:alpha val="90196"/>
              </a:srgbClr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6615315" y="9838487"/>
            <a:ext cx="1607763" cy="384048"/>
            <a:chOff x="0" y="0"/>
            <a:chExt cx="2143684" cy="512064"/>
          </a:xfrm>
        </p:grpSpPr>
        <p:sp>
          <p:nvSpPr>
            <p:cNvPr name="Freeform 7" id="7" descr="preencoded.png">
              <a:hlinkClick r:id="rId4" tooltip="https://gamma.app/?utm_source=made-with-gamma"/>
            </p:cNvPr>
            <p:cNvSpPr/>
            <p:nvPr/>
          </p:nvSpPr>
          <p:spPr>
            <a:xfrm flipH="false" flipV="false" rot="0">
              <a:off x="0" y="0"/>
              <a:ext cx="2143633" cy="512064"/>
            </a:xfrm>
            <a:custGeom>
              <a:avLst/>
              <a:gdLst/>
              <a:ahLst/>
              <a:cxnLst/>
              <a:rect r="r" b="b" t="t" l="l"/>
              <a:pathLst>
                <a:path h="512064" w="2143633">
                  <a:moveTo>
                    <a:pt x="0" y="0"/>
                  </a:moveTo>
                  <a:lnTo>
                    <a:pt x="2143633" y="0"/>
                  </a:lnTo>
                  <a:lnTo>
                    <a:pt x="2143633" y="512064"/>
                  </a:lnTo>
                  <a:lnTo>
                    <a:pt x="0" y="5120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2" b="0"/>
              </a:stretch>
            </a:blipFill>
          </p:spPr>
        </p:sp>
      </p:grpSp>
      <p:grpSp>
        <p:nvGrpSpPr>
          <p:cNvPr name="Group 8" id="8"/>
          <p:cNvGrpSpPr/>
          <p:nvPr/>
        </p:nvGrpSpPr>
        <p:grpSpPr>
          <a:xfrm rot="0">
            <a:off x="16520379" y="9747218"/>
            <a:ext cx="1673457" cy="479669"/>
            <a:chOff x="0" y="0"/>
            <a:chExt cx="2231276" cy="63955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31263" cy="639572"/>
            </a:xfrm>
            <a:custGeom>
              <a:avLst/>
              <a:gdLst/>
              <a:ahLst/>
              <a:cxnLst/>
              <a:rect r="r" b="b" t="t" l="l"/>
              <a:pathLst>
                <a:path h="639572" w="2231263">
                  <a:moveTo>
                    <a:pt x="0" y="0"/>
                  </a:moveTo>
                  <a:lnTo>
                    <a:pt x="2231263" y="0"/>
                  </a:lnTo>
                  <a:lnTo>
                    <a:pt x="2231263" y="639572"/>
                  </a:lnTo>
                  <a:lnTo>
                    <a:pt x="0" y="639572"/>
                  </a:lnTo>
                  <a:close/>
                </a:path>
              </a:pathLst>
            </a:custGeom>
            <a:solidFill>
              <a:srgbClr val="101620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4858" y="0"/>
            <a:ext cx="18278284" cy="10287000"/>
            <a:chOff x="0" y="0"/>
            <a:chExt cx="24371046" cy="13716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4371046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24371046">
                  <a:moveTo>
                    <a:pt x="0" y="0"/>
                  </a:moveTo>
                  <a:lnTo>
                    <a:pt x="24371046" y="0"/>
                  </a:lnTo>
                  <a:lnTo>
                    <a:pt x="24371046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5228199" y="-55512"/>
            <a:ext cx="2956103" cy="3289259"/>
            <a:chOff x="0" y="0"/>
            <a:chExt cx="3941470" cy="438567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941445" cy="4385691"/>
            </a:xfrm>
            <a:custGeom>
              <a:avLst/>
              <a:gdLst/>
              <a:ahLst/>
              <a:cxnLst/>
              <a:rect r="r" b="b" t="t" l="l"/>
              <a:pathLst>
                <a:path h="4385691" w="3941445">
                  <a:moveTo>
                    <a:pt x="0" y="0"/>
                  </a:moveTo>
                  <a:lnTo>
                    <a:pt x="3941445" y="0"/>
                  </a:lnTo>
                  <a:lnTo>
                    <a:pt x="3941445" y="4385691"/>
                  </a:lnTo>
                  <a:lnTo>
                    <a:pt x="0" y="4385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48087" t="0" r="-49730" b="-1"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DAHTNxOm0TA</dc:identifier>
  <dcterms:modified xsi:type="dcterms:W3CDTF">2011-08-01T06:04:30Z</dcterms:modified>
  <cp:revision>1</cp:revision>
  <dc:title>CAREnew.pptx</dc:title>
</cp:coreProperties>
</file>