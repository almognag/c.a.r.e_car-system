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6" r:id="rId12"/>
  </p:sldIdLst>
  <p:sldSz cx="12192000" cy="6858000"/>
  <p:notesSz cx="6858000" cy="12192000"/>
  <p:embeddedFontLst>
    <p:embeddedFont>
      <p:font typeface="Geist" panose="020B0604020202020204" charset="0"/>
      <p:regular r:id="rId14"/>
    </p:embeddedFont>
    <p:embeddedFont>
      <p:font typeface="Geist Bold" panose="020B0604020202020204" charset="0"/>
      <p:regular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AFFF"/>
    <a:srgbClr val="1016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5020" autoAdjust="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232505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13872-2BF1-5C1B-9D9A-107888CF2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997420-5478-25AF-7A5C-78A3982493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04E5D6-DA46-042D-F2A3-42DDF6A8D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A716C3-093B-E2BD-BFDC-93F133C81C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13000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64B65-EA69-7A46-7BDA-C2FF9696E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7012F0-945D-E095-5762-F1410E295C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1A2285-8C57-915A-1FBE-F5B3757ED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D5FED2-85AB-CB51-DE20-925EE5709A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0377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620">
              <a:alpha val="95000"/>
            </a:srgbClr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114091" y="1631735"/>
            <a:ext cx="6296860" cy="1061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8000" b="1" kern="0" spc="-74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C.A.R.E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5233360" y="2732167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2800" b="1" kern="0" spc="-37" dirty="0">
                <a:solidFill>
                  <a:srgbClr val="38AFFF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Car Alert &amp; Reminder Eye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233360" y="3235132"/>
            <a:ext cx="6296860" cy="828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8000"/>
              </a:lnSpc>
              <a:spcAft>
                <a:spcPts val="1650"/>
              </a:spcAft>
              <a:buNone/>
            </a:pPr>
            <a:r>
              <a:rPr lang="en-US" sz="2000" i="1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 extra eye watching the back seat for you.</a:t>
            </a:r>
            <a:endParaRPr lang="en-US" sz="2000" dirty="0"/>
          </a:p>
          <a:p>
            <a:pPr marL="0" indent="0" algn="ctr">
              <a:lnSpc>
                <a:spcPct val="108000"/>
              </a:lnSpc>
              <a:buNone/>
            </a:pPr>
            <a:r>
              <a:rPr lang="en-US" sz="20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Linoy Kasuker &amp; Almog Gabay</a:t>
            </a:r>
            <a:endParaRPr lang="en-US" sz="2000" dirty="0"/>
          </a:p>
        </p:txBody>
      </p:sp>
      <p:pic>
        <p:nvPicPr>
          <p:cNvPr id="15" name="תמונה 14">
            <a:extLst>
              <a:ext uri="{FF2B5EF4-FFF2-40B4-BE49-F238E27FC236}">
                <a16:creationId xmlns:a16="http://schemas.microsoft.com/office/drawing/2014/main" id="{F355F518-C98B-1A8A-69F2-DF8F4FE2F96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309" r="25139"/>
          <a:stretch>
            <a:fillRect/>
          </a:stretch>
        </p:blipFill>
        <p:spPr>
          <a:xfrm>
            <a:off x="10978752" y="86419"/>
            <a:ext cx="1102936" cy="1227236"/>
          </a:xfrm>
          <a:prstGeom prst="rect">
            <a:avLst/>
          </a:prstGeom>
        </p:spPr>
      </p:pic>
      <p:sp>
        <p:nvSpPr>
          <p:cNvPr id="16" name="מלבן 15">
            <a:extLst>
              <a:ext uri="{FF2B5EF4-FFF2-40B4-BE49-F238E27FC236}">
                <a16:creationId xmlns:a16="http://schemas.microsoft.com/office/drawing/2014/main" id="{996680B1-2797-95E8-713A-42D12EBDE58D}"/>
              </a:ext>
            </a:extLst>
          </p:cNvPr>
          <p:cNvSpPr/>
          <p:nvPr/>
        </p:nvSpPr>
        <p:spPr>
          <a:xfrm>
            <a:off x="11019934" y="6504495"/>
            <a:ext cx="1102936" cy="307082"/>
          </a:xfrm>
          <a:prstGeom prst="rect">
            <a:avLst/>
          </a:prstGeom>
          <a:solidFill>
            <a:srgbClr val="10162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172369"/>
            <a:ext cx="10868745" cy="847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5100" b="1" kern="0" spc="-103" dirty="0">
                <a:solidFill>
                  <a:srgbClr val="38AFFF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THIS HAPPENED THIS MONTH.</a:t>
            </a:r>
            <a:endParaRPr lang="en-US" sz="5100" dirty="0"/>
          </a:p>
        </p:txBody>
      </p:sp>
      <p:sp>
        <p:nvSpPr>
          <p:cNvPr id="3" name="Text 1"/>
          <p:cNvSpPr/>
          <p:nvPr/>
        </p:nvSpPr>
        <p:spPr>
          <a:xfrm>
            <a:off x="356682" y="2179893"/>
            <a:ext cx="11478330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8000"/>
              </a:lnSpc>
            </a:pPr>
            <a:r>
              <a:rPr lang="he-IL" sz="1600" dirty="0" err="1">
                <a:solidFill>
                  <a:schemeClr val="bg1"/>
                </a:solidFill>
                <a:latin typeface="Geist" pitchFamily="34" charset="0"/>
                <a:ea typeface="Geist" pitchFamily="34" charset="-122"/>
              </a:rPr>
              <a:t>Two</a:t>
            </a:r>
            <a:r>
              <a:rPr lang="he-IL" sz="1600" dirty="0">
                <a:solidFill>
                  <a:schemeClr val="bg1"/>
                </a:solidFill>
                <a:latin typeface="Geist" pitchFamily="34" charset="0"/>
                <a:ea typeface="Geist" pitchFamily="34" charset="-122"/>
              </a:rPr>
              <a:t> </a:t>
            </a:r>
            <a:r>
              <a:rPr lang="he-IL" sz="1600" dirty="0" err="1">
                <a:solidFill>
                  <a:schemeClr val="bg1"/>
                </a:solidFill>
                <a:latin typeface="Geist" pitchFamily="34" charset="0"/>
                <a:ea typeface="Geist" pitchFamily="34" charset="-122"/>
              </a:rPr>
              <a:t>incidents</a:t>
            </a:r>
            <a:r>
              <a:rPr lang="he-IL" sz="1100" dirty="0">
                <a:solidFill>
                  <a:schemeClr val="bg1"/>
                </a:solidFill>
                <a:latin typeface="Geist" pitchFamily="34" charset="0"/>
                <a:ea typeface="Geist" pitchFamily="34" charset="-122"/>
              </a:rPr>
              <a:t>.</a:t>
            </a:r>
            <a:r>
              <a:rPr lang="he-IL" sz="1600" dirty="0">
                <a:solidFill>
                  <a:schemeClr val="bg1"/>
                </a:solidFill>
                <a:latin typeface="Geist" pitchFamily="34" charset="0"/>
                <a:ea typeface="Geist" pitchFamily="34" charset="-122"/>
              </a:rPr>
              <a:t> </a:t>
            </a:r>
            <a:r>
              <a:rPr lang="he-IL" sz="1600" dirty="0" err="1">
                <a:solidFill>
                  <a:schemeClr val="bg1"/>
                </a:solidFill>
                <a:latin typeface="Geist" pitchFamily="34" charset="0"/>
                <a:ea typeface="Geist" pitchFamily="34" charset="-122"/>
              </a:rPr>
              <a:t>Two</a:t>
            </a:r>
            <a:r>
              <a:rPr lang="he-IL" sz="1600" dirty="0">
                <a:solidFill>
                  <a:schemeClr val="bg1"/>
                </a:solidFill>
                <a:latin typeface="Geist" pitchFamily="34" charset="0"/>
                <a:ea typeface="Geist" pitchFamily="34" charset="-122"/>
              </a:rPr>
              <a:t> </a:t>
            </a:r>
            <a:r>
              <a:rPr lang="he-IL" sz="1600" dirty="0" err="1">
                <a:solidFill>
                  <a:schemeClr val="bg1"/>
                </a:solidFill>
                <a:latin typeface="Geist" pitchFamily="34" charset="0"/>
                <a:ea typeface="Geist" pitchFamily="34" charset="-122"/>
              </a:rPr>
              <a:t>weeks</a:t>
            </a:r>
            <a:r>
              <a:rPr lang="he-IL" sz="1600" dirty="0">
                <a:solidFill>
                  <a:schemeClr val="bg1"/>
                </a:solidFill>
                <a:latin typeface="Geist" pitchFamily="34" charset="0"/>
                <a:ea typeface="Geist" pitchFamily="34" charset="-122"/>
              </a:rPr>
              <a:t>. </a:t>
            </a:r>
            <a:r>
              <a:rPr lang="he-IL" sz="1600" dirty="0" err="1">
                <a:solidFill>
                  <a:schemeClr val="bg1"/>
                </a:solidFill>
                <a:latin typeface="Geist" pitchFamily="34" charset="0"/>
                <a:ea typeface="Geist" pitchFamily="34" charset="-122"/>
              </a:rPr>
              <a:t>One</a:t>
            </a:r>
            <a:r>
              <a:rPr lang="he-IL" sz="1600" dirty="0">
                <a:solidFill>
                  <a:schemeClr val="bg1"/>
                </a:solidFill>
                <a:latin typeface="Geist" pitchFamily="34" charset="0"/>
                <a:ea typeface="Geist" pitchFamily="34" charset="-122"/>
              </a:rPr>
              <a:t> </a:t>
            </a:r>
            <a:r>
              <a:rPr lang="he-IL" sz="1600" dirty="0" err="1">
                <a:solidFill>
                  <a:schemeClr val="bg1"/>
                </a:solidFill>
                <a:latin typeface="Geist" pitchFamily="34" charset="0"/>
                <a:ea typeface="Geist" pitchFamily="34" charset="-122"/>
              </a:rPr>
              <a:t>preventable</a:t>
            </a:r>
            <a:r>
              <a:rPr lang="he-IL" sz="1600" dirty="0">
                <a:solidFill>
                  <a:schemeClr val="bg1"/>
                </a:solidFill>
                <a:latin typeface="Geist" pitchFamily="34" charset="0"/>
                <a:ea typeface="Geist" pitchFamily="34" charset="-122"/>
              </a:rPr>
              <a:t> </a:t>
            </a:r>
            <a:r>
              <a:rPr lang="he-IL" sz="1600" dirty="0" err="1">
                <a:solidFill>
                  <a:schemeClr val="bg1"/>
                </a:solidFill>
                <a:latin typeface="Geist" pitchFamily="34" charset="0"/>
                <a:ea typeface="Geist" pitchFamily="34" charset="-122"/>
              </a:rPr>
              <a:t>danger</a:t>
            </a:r>
            <a:r>
              <a:rPr lang="he-IL" sz="1600" b="1" dirty="0">
                <a:solidFill>
                  <a:schemeClr val="bg1"/>
                </a:solidFill>
              </a:rPr>
              <a:t>.</a:t>
            </a:r>
            <a:endParaRPr lang="he-IL" sz="1600" dirty="0">
              <a:solidFill>
                <a:schemeClr val="bg1"/>
              </a:solidFill>
            </a:endParaRPr>
          </a:p>
          <a:p>
            <a:pPr marL="0" indent="0" algn="ctr">
              <a:lnSpc>
                <a:spcPct val="108000"/>
              </a:lnSpc>
              <a:buNone/>
            </a:pP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25350" y="2856408"/>
            <a:ext cx="5476043" cy="2961587"/>
          </a:xfrm>
          <a:prstGeom prst="roundRect">
            <a:avLst>
              <a:gd name="adj" fmla="val 7098"/>
            </a:avLst>
          </a:prstGeom>
          <a:solidFill>
            <a:srgbClr val="06182C">
              <a:alpha val="95000"/>
            </a:srgbClr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5" name="Shape 3"/>
          <p:cNvSpPr/>
          <p:nvPr/>
        </p:nvSpPr>
        <p:spPr>
          <a:xfrm>
            <a:off x="714357" y="3069034"/>
            <a:ext cx="1385853" cy="287139"/>
          </a:xfrm>
          <a:prstGeom prst="roundRect">
            <a:avLst>
              <a:gd name="adj" fmla="val 22118"/>
            </a:avLst>
          </a:prstGeom>
          <a:solidFill>
            <a:srgbClr val="00194D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827761" y="3125688"/>
            <a:ext cx="1768629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AUGUST 9, 2026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32776" y="3069034"/>
            <a:ext cx="1446276" cy="287139"/>
          </a:xfrm>
          <a:prstGeom prst="roundRect">
            <a:avLst>
              <a:gd name="adj" fmla="val 22118"/>
            </a:avLst>
          </a:prstGeom>
          <a:solidFill>
            <a:srgbClr val="00194D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0" name="Text 8"/>
          <p:cNvSpPr/>
          <p:nvPr/>
        </p:nvSpPr>
        <p:spPr>
          <a:xfrm>
            <a:off x="6446180" y="3125688"/>
            <a:ext cx="1829052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AUGUST 21, 2026</a:t>
            </a:r>
            <a:endParaRPr lang="en-US" sz="1150" dirty="0"/>
          </a:p>
        </p:txBody>
      </p:sp>
      <p:pic>
        <p:nvPicPr>
          <p:cNvPr id="17" name="תמונה 16">
            <a:extLst>
              <a:ext uri="{FF2B5EF4-FFF2-40B4-BE49-F238E27FC236}">
                <a16:creationId xmlns:a16="http://schemas.microsoft.com/office/drawing/2014/main" id="{4C6975F9-91F4-9870-9990-A68B2E42CA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309" r="25139"/>
          <a:stretch>
            <a:fillRect/>
          </a:stretch>
        </p:blipFill>
        <p:spPr>
          <a:xfrm>
            <a:off x="10978752" y="86419"/>
            <a:ext cx="1102936" cy="1227236"/>
          </a:xfrm>
          <a:prstGeom prst="rect">
            <a:avLst/>
          </a:prstGeom>
        </p:spPr>
      </p:pic>
      <p:sp>
        <p:nvSpPr>
          <p:cNvPr id="19" name="מלבן 18">
            <a:extLst>
              <a:ext uri="{FF2B5EF4-FFF2-40B4-BE49-F238E27FC236}">
                <a16:creationId xmlns:a16="http://schemas.microsoft.com/office/drawing/2014/main" id="{B3DA0290-D38E-2656-695A-BF400782FE00}"/>
              </a:ext>
            </a:extLst>
          </p:cNvPr>
          <p:cNvSpPr/>
          <p:nvPr/>
        </p:nvSpPr>
        <p:spPr>
          <a:xfrm>
            <a:off x="11019934" y="6504495"/>
            <a:ext cx="1102936" cy="307082"/>
          </a:xfrm>
          <a:prstGeom prst="rect">
            <a:avLst/>
          </a:prstGeom>
          <a:solidFill>
            <a:srgbClr val="10162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pic>
        <p:nvPicPr>
          <p:cNvPr id="21" name="תמונה 20">
            <a:extLst>
              <a:ext uri="{FF2B5EF4-FFF2-40B4-BE49-F238E27FC236}">
                <a16:creationId xmlns:a16="http://schemas.microsoft.com/office/drawing/2014/main" id="{B1040023-A6DE-8F68-74E5-E85FECA7E3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3614" y="3059329"/>
            <a:ext cx="3622983" cy="2536676"/>
          </a:xfrm>
          <a:prstGeom prst="rect">
            <a:avLst/>
          </a:prstGeom>
        </p:spPr>
      </p:pic>
      <p:pic>
        <p:nvPicPr>
          <p:cNvPr id="23" name="תמונה 22">
            <a:extLst>
              <a:ext uri="{FF2B5EF4-FFF2-40B4-BE49-F238E27FC236}">
                <a16:creationId xmlns:a16="http://schemas.microsoft.com/office/drawing/2014/main" id="{E2CBE856-A84D-47FD-4208-BD59E064A0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6939" y="3501828"/>
            <a:ext cx="4930745" cy="1873949"/>
          </a:xfrm>
          <a:prstGeom prst="rect">
            <a:avLst/>
          </a:prstGeom>
        </p:spPr>
      </p:pic>
      <p:sp>
        <p:nvSpPr>
          <p:cNvPr id="29" name="Text 1">
            <a:extLst>
              <a:ext uri="{FF2B5EF4-FFF2-40B4-BE49-F238E27FC236}">
                <a16:creationId xmlns:a16="http://schemas.microsoft.com/office/drawing/2014/main" id="{8FC2DFA8-5AD7-8DC8-43EC-F93CCEB3261F}"/>
              </a:ext>
            </a:extLst>
          </p:cNvPr>
          <p:cNvSpPr/>
          <p:nvPr/>
        </p:nvSpPr>
        <p:spPr>
          <a:xfrm>
            <a:off x="97432" y="6006733"/>
            <a:ext cx="11478330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8000"/>
              </a:lnSpc>
            </a:pPr>
            <a:r>
              <a:rPr lang="he-IL" sz="1600" dirty="0" err="1">
                <a:solidFill>
                  <a:schemeClr val="bg1"/>
                </a:solidFill>
                <a:latin typeface="Geist" pitchFamily="34" charset="0"/>
                <a:ea typeface="Geist" pitchFamily="34" charset="-122"/>
              </a:rPr>
              <a:t>This</a:t>
            </a:r>
            <a:r>
              <a:rPr lang="he-IL" sz="1600" dirty="0">
                <a:solidFill>
                  <a:schemeClr val="bg1"/>
                </a:solidFill>
                <a:latin typeface="Geist" pitchFamily="34" charset="0"/>
                <a:ea typeface="Geist" pitchFamily="34" charset="-122"/>
              </a:rPr>
              <a:t> </a:t>
            </a:r>
            <a:r>
              <a:rPr lang="he-IL" sz="1600" dirty="0" err="1">
                <a:solidFill>
                  <a:schemeClr val="bg1"/>
                </a:solidFill>
                <a:latin typeface="Geist" pitchFamily="34" charset="0"/>
                <a:ea typeface="Geist" pitchFamily="34" charset="-122"/>
              </a:rPr>
              <a:t>is</a:t>
            </a:r>
            <a:r>
              <a:rPr lang="he-IL" sz="1600" dirty="0">
                <a:solidFill>
                  <a:schemeClr val="bg1"/>
                </a:solidFill>
                <a:latin typeface="Geist" pitchFamily="34" charset="0"/>
                <a:ea typeface="Geist" pitchFamily="34" charset="-122"/>
              </a:rPr>
              <a:t> </a:t>
            </a:r>
            <a:r>
              <a:rPr lang="he-IL" sz="1600" dirty="0">
                <a:solidFill>
                  <a:srgbClr val="38AFFF"/>
                </a:solidFill>
                <a:latin typeface="Geist" pitchFamily="34" charset="0"/>
                <a:ea typeface="Geist" pitchFamily="34" charset="-122"/>
              </a:rPr>
              <a:t>NOT</a:t>
            </a:r>
            <a:r>
              <a:rPr lang="he-IL" sz="1600" dirty="0">
                <a:solidFill>
                  <a:schemeClr val="bg1"/>
                </a:solidFill>
                <a:latin typeface="Geist" pitchFamily="34" charset="0"/>
                <a:ea typeface="Geist" pitchFamily="34" charset="-122"/>
              </a:rPr>
              <a:t> a </a:t>
            </a:r>
            <a:r>
              <a:rPr lang="he-IL" sz="1600" dirty="0" err="1">
                <a:solidFill>
                  <a:schemeClr val="bg1"/>
                </a:solidFill>
                <a:latin typeface="Geist" pitchFamily="34" charset="0"/>
                <a:ea typeface="Geist" pitchFamily="34" charset="-122"/>
              </a:rPr>
              <a:t>problem</a:t>
            </a:r>
            <a:r>
              <a:rPr lang="he-IL" sz="1600" dirty="0">
                <a:solidFill>
                  <a:schemeClr val="bg1"/>
                </a:solidFill>
                <a:latin typeface="Geist" pitchFamily="34" charset="0"/>
                <a:ea typeface="Geist" pitchFamily="34" charset="-122"/>
              </a:rPr>
              <a:t> </a:t>
            </a:r>
            <a:r>
              <a:rPr lang="he-IL" sz="1600" dirty="0" err="1">
                <a:solidFill>
                  <a:schemeClr val="bg1"/>
                </a:solidFill>
                <a:latin typeface="Geist" pitchFamily="34" charset="0"/>
                <a:ea typeface="Geist" pitchFamily="34" charset="-122"/>
              </a:rPr>
              <a:t>from</a:t>
            </a:r>
            <a:r>
              <a:rPr lang="he-IL" sz="1600" dirty="0">
                <a:solidFill>
                  <a:schemeClr val="bg1"/>
                </a:solidFill>
                <a:latin typeface="Geist" pitchFamily="34" charset="0"/>
                <a:ea typeface="Geist" pitchFamily="34" charset="-122"/>
              </a:rPr>
              <a:t> </a:t>
            </a:r>
            <a:r>
              <a:rPr lang="he-IL" sz="1600" dirty="0" err="1">
                <a:solidFill>
                  <a:schemeClr val="bg1"/>
                </a:solidFill>
                <a:latin typeface="Geist" pitchFamily="34" charset="0"/>
                <a:ea typeface="Geist" pitchFamily="34" charset="-122"/>
              </a:rPr>
              <a:t>the</a:t>
            </a:r>
            <a:r>
              <a:rPr lang="he-IL" sz="1600" dirty="0">
                <a:solidFill>
                  <a:schemeClr val="bg1"/>
                </a:solidFill>
                <a:latin typeface="Geist" pitchFamily="34" charset="0"/>
                <a:ea typeface="Geist" pitchFamily="34" charset="-122"/>
              </a:rPr>
              <a:t> </a:t>
            </a:r>
            <a:r>
              <a:rPr lang="he-IL" sz="1600" dirty="0" err="1">
                <a:solidFill>
                  <a:schemeClr val="bg1"/>
                </a:solidFill>
                <a:latin typeface="Geist" pitchFamily="34" charset="0"/>
                <a:ea typeface="Geist" pitchFamily="34" charset="-122"/>
              </a:rPr>
              <a:t>past</a:t>
            </a:r>
            <a:r>
              <a:rPr lang="he-IL" sz="1600" dirty="0">
                <a:solidFill>
                  <a:schemeClr val="bg1"/>
                </a:solidFill>
                <a:latin typeface="Geist" pitchFamily="34" charset="0"/>
                <a:ea typeface="Geist" pitchFamily="34" charset="-122"/>
              </a:rPr>
              <a:t>.</a:t>
            </a:r>
            <a:endParaRPr lang="en-US" sz="1600" dirty="0">
              <a:solidFill>
                <a:schemeClr val="bg1"/>
              </a:solidFill>
              <a:latin typeface="Geist" pitchFamily="34" charset="0"/>
              <a:ea typeface="Geist" pitchFamily="3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836216"/>
            <a:ext cx="6296860" cy="847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5100" b="1" kern="0" spc="-103" dirty="0">
                <a:solidFill>
                  <a:srgbClr val="38AFFF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MINUTES MATTER</a:t>
            </a:r>
            <a:endParaRPr lang="en-US" sz="5100" dirty="0"/>
          </a:p>
        </p:txBody>
      </p:sp>
      <p:sp>
        <p:nvSpPr>
          <p:cNvPr id="4" name="Shape 1"/>
          <p:cNvSpPr/>
          <p:nvPr/>
        </p:nvSpPr>
        <p:spPr>
          <a:xfrm>
            <a:off x="661475" y="1967409"/>
            <a:ext cx="3053877" cy="2424013"/>
          </a:xfrm>
          <a:prstGeom prst="roundRect">
            <a:avLst>
              <a:gd name="adj" fmla="val 3275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5" name="Text 2"/>
          <p:cNvSpPr/>
          <p:nvPr/>
        </p:nvSpPr>
        <p:spPr>
          <a:xfrm>
            <a:off x="869531" y="2175470"/>
            <a:ext cx="2637764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en-US" sz="1850" b="1" kern="0" spc="-37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RISING HEAT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869531" y="2595959"/>
            <a:ext cx="2637764" cy="13417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spcAft>
                <a:spcPts val="850"/>
              </a:spcAft>
              <a:buNone/>
            </a:pPr>
            <a:r>
              <a:rPr lang="en-US" sz="14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+11°C IN JUST 10 MINUTES</a:t>
            </a:r>
          </a:p>
          <a:p>
            <a:pPr marL="0" indent="0" algn="l">
              <a:lnSpc>
                <a:spcPct val="108000"/>
              </a:lnSpc>
              <a:spcAft>
                <a:spcPts val="850"/>
              </a:spcAft>
              <a:buNone/>
            </a:pPr>
            <a:r>
              <a:rPr lang="en-US" sz="14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Vehicle temperatures can rise dangerously fast.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3904359" y="1967409"/>
            <a:ext cx="3053976" cy="2424013"/>
          </a:xfrm>
          <a:prstGeom prst="roundRect">
            <a:avLst>
              <a:gd name="adj" fmla="val 3275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8" name="Text 5"/>
          <p:cNvSpPr/>
          <p:nvPr/>
        </p:nvSpPr>
        <p:spPr>
          <a:xfrm>
            <a:off x="4112415" y="2175470"/>
            <a:ext cx="2637863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en-US" sz="1850" b="1" kern="0" spc="-37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VULNERABLE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4112415" y="2595959"/>
            <a:ext cx="2637863" cy="15874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08000"/>
              </a:lnSpc>
              <a:spcAft>
                <a:spcPts val="850"/>
              </a:spcAft>
            </a:pPr>
            <a:r>
              <a:rPr lang="en-US" sz="14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FASTER × 5-3</a:t>
            </a:r>
          </a:p>
          <a:p>
            <a:pPr marL="0" indent="0" algn="l">
              <a:lnSpc>
                <a:spcPct val="108000"/>
              </a:lnSpc>
              <a:spcAft>
                <a:spcPts val="850"/>
              </a:spcAft>
              <a:buNone/>
            </a:pPr>
            <a:r>
              <a:rPr lang="en-US" sz="14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child's body heats up faster than an adult's.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61475" y="4580434"/>
            <a:ext cx="6296860" cy="1030657"/>
          </a:xfrm>
          <a:prstGeom prst="roundRect">
            <a:avLst>
              <a:gd name="adj" fmla="val 5508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Text 8"/>
          <p:cNvSpPr/>
          <p:nvPr/>
        </p:nvSpPr>
        <p:spPr>
          <a:xfrm>
            <a:off x="869531" y="4788495"/>
            <a:ext cx="588074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en-US" sz="1850" b="1" kern="0" spc="-37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SILENT DANGER </a:t>
            </a:r>
            <a:endParaRPr lang="en-US" sz="1850" dirty="0"/>
          </a:p>
        </p:txBody>
      </p:sp>
      <p:sp>
        <p:nvSpPr>
          <p:cNvPr id="12" name="Text 9"/>
          <p:cNvSpPr/>
          <p:nvPr/>
        </p:nvSpPr>
        <p:spPr>
          <a:xfrm>
            <a:off x="869531" y="5208984"/>
            <a:ext cx="5880747" cy="604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spcAft>
                <a:spcPts val="850"/>
              </a:spcAft>
              <a:buNone/>
            </a:pPr>
            <a:r>
              <a:rPr lang="en-US" sz="14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 sleeping child may be difficult to notice.</a:t>
            </a:r>
            <a:endParaRPr lang="he-IL" sz="1450" b="1" dirty="0">
              <a:solidFill>
                <a:srgbClr val="EBEDF0"/>
              </a:solidFill>
              <a:latin typeface="Geist Bold" pitchFamily="34" charset="0"/>
              <a:ea typeface="Geist Bold" pitchFamily="34" charset="-122"/>
              <a:cs typeface="Geist Bold" pitchFamily="34" charset="-120"/>
            </a:endParaRPr>
          </a:p>
        </p:txBody>
      </p:sp>
      <p:pic>
        <p:nvPicPr>
          <p:cNvPr id="14" name="תמונה 13">
            <a:extLst>
              <a:ext uri="{FF2B5EF4-FFF2-40B4-BE49-F238E27FC236}">
                <a16:creationId xmlns:a16="http://schemas.microsoft.com/office/drawing/2014/main" id="{0BA49074-C047-6D96-876D-A3315826231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309" r="25139"/>
          <a:stretch>
            <a:fillRect/>
          </a:stretch>
        </p:blipFill>
        <p:spPr>
          <a:xfrm>
            <a:off x="10978752" y="86419"/>
            <a:ext cx="1102936" cy="1227236"/>
          </a:xfrm>
          <a:prstGeom prst="rect">
            <a:avLst/>
          </a:prstGeom>
        </p:spPr>
      </p:pic>
      <p:pic>
        <p:nvPicPr>
          <p:cNvPr id="22" name="תמונה 21">
            <a:extLst>
              <a:ext uri="{FF2B5EF4-FFF2-40B4-BE49-F238E27FC236}">
                <a16:creationId xmlns:a16="http://schemas.microsoft.com/office/drawing/2014/main" id="{46245871-7F41-064B-980C-A8CA3569ADC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149" t="5609" r="62635" b="48133"/>
          <a:stretch>
            <a:fillRect/>
          </a:stretch>
        </p:blipFill>
        <p:spPr>
          <a:xfrm>
            <a:off x="2293696" y="2063690"/>
            <a:ext cx="573310" cy="532269"/>
          </a:xfrm>
          <a:prstGeom prst="rect">
            <a:avLst/>
          </a:prstGeom>
        </p:spPr>
      </p:pic>
      <p:pic>
        <p:nvPicPr>
          <p:cNvPr id="24" name="תמונה 23">
            <a:extLst>
              <a:ext uri="{FF2B5EF4-FFF2-40B4-BE49-F238E27FC236}">
                <a16:creationId xmlns:a16="http://schemas.microsoft.com/office/drawing/2014/main" id="{8C484869-DF6A-DC62-CC41-DF15E6A261F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1624" t="2559" r="35160" b="51183"/>
          <a:stretch>
            <a:fillRect/>
          </a:stretch>
        </p:blipFill>
        <p:spPr>
          <a:xfrm>
            <a:off x="5664006" y="2063690"/>
            <a:ext cx="573310" cy="532269"/>
          </a:xfrm>
          <a:prstGeom prst="rect">
            <a:avLst/>
          </a:prstGeom>
        </p:spPr>
      </p:pic>
      <p:pic>
        <p:nvPicPr>
          <p:cNvPr id="26" name="תמונה 25">
            <a:extLst>
              <a:ext uri="{FF2B5EF4-FFF2-40B4-BE49-F238E27FC236}">
                <a16:creationId xmlns:a16="http://schemas.microsoft.com/office/drawing/2014/main" id="{78B6A3DB-17F7-0BD9-FB4D-27F0EAED0C2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6784" t="5145" b="48597"/>
          <a:stretch>
            <a:fillRect/>
          </a:stretch>
        </p:blipFill>
        <p:spPr>
          <a:xfrm>
            <a:off x="2805930" y="4676715"/>
            <a:ext cx="573310" cy="53226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62422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850" b="1" kern="0" spc="-37" dirty="0">
                <a:solidFill>
                  <a:srgbClr val="38AFFF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THE SOLUTION</a:t>
            </a:r>
            <a:endParaRPr lang="en-US" sz="1850" dirty="0"/>
          </a:p>
        </p:txBody>
      </p:sp>
      <p:sp>
        <p:nvSpPr>
          <p:cNvPr id="3" name="Text 1"/>
          <p:cNvSpPr/>
          <p:nvPr/>
        </p:nvSpPr>
        <p:spPr>
          <a:xfrm>
            <a:off x="661475" y="1552972"/>
            <a:ext cx="10868745" cy="12286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7400" b="1" kern="0" spc="-149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MEET C.A.R.E</a:t>
            </a:r>
            <a:endParaRPr lang="en-US" sz="7400" dirty="0"/>
          </a:p>
        </p:txBody>
      </p:sp>
      <p:sp>
        <p:nvSpPr>
          <p:cNvPr id="4" name="Text 2"/>
          <p:cNvSpPr/>
          <p:nvPr/>
        </p:nvSpPr>
        <p:spPr>
          <a:xfrm>
            <a:off x="661475" y="2988072"/>
            <a:ext cx="11111425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 autonomous safety system that scans the vehicle after shutdown and alerts the driver when a possible presence is detected.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61475" y="3769023"/>
            <a:ext cx="10868745" cy="2126456"/>
          </a:xfrm>
          <a:prstGeom prst="roundRect">
            <a:avLst>
              <a:gd name="adj" fmla="val 3733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6" name="Shape 4"/>
          <p:cNvSpPr/>
          <p:nvPr/>
        </p:nvSpPr>
        <p:spPr>
          <a:xfrm>
            <a:off x="680524" y="3788073"/>
            <a:ext cx="5415323" cy="1044178"/>
          </a:xfrm>
          <a:custGeom>
            <a:avLst/>
            <a:gdLst/>
            <a:ahLst/>
            <a:cxnLst/>
            <a:rect l="l" t="t" r="r" b="b"/>
            <a:pathLst>
              <a:path w="5415323" h="1044178">
                <a:moveTo>
                  <a:pt x="66156" y="0"/>
                </a:moveTo>
                <a:lnTo>
                  <a:pt x="5415323" y="0"/>
                </a:lnTo>
                <a:lnTo>
                  <a:pt x="5415323" y="1044178"/>
                </a:lnTo>
                <a:lnTo>
                  <a:pt x="0" y="1044178"/>
                </a:lnTo>
                <a:lnTo>
                  <a:pt x="0" y="66158"/>
                </a:lnTo>
                <a:arcTo wR="66156" hR="66158" stAng="10800000" swAng="5400000"/>
                <a:close/>
              </a:path>
            </a:pathLst>
          </a:custGeom>
          <a:solidFill>
            <a:srgbClr val="10162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7" name="Text 5"/>
          <p:cNvSpPr/>
          <p:nvPr/>
        </p:nvSpPr>
        <p:spPr>
          <a:xfrm>
            <a:off x="1357892" y="3977084"/>
            <a:ext cx="4753848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850" b="1" kern="0" spc="-37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AUTOMATIC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1357892" y="4397573"/>
            <a:ext cx="4753848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Activates automatically after vehicle shutdown.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095848" y="3788073"/>
            <a:ext cx="5415323" cy="1044178"/>
          </a:xfrm>
          <a:custGeom>
            <a:avLst/>
            <a:gdLst/>
            <a:ahLst/>
            <a:cxnLst/>
            <a:rect l="l" t="t" r="r" b="b"/>
            <a:pathLst>
              <a:path w="5415323" h="1044178">
                <a:moveTo>
                  <a:pt x="0" y="0"/>
                </a:moveTo>
                <a:lnTo>
                  <a:pt x="5349167" y="0"/>
                </a:lnTo>
                <a:arcTo wR="66156" hR="66158" stAng="16200000" swAng="5400000"/>
                <a:lnTo>
                  <a:pt x="5415323" y="1044178"/>
                </a:lnTo>
                <a:lnTo>
                  <a:pt x="0" y="1044178"/>
                </a:lnTo>
                <a:lnTo>
                  <a:pt x="0" y="0"/>
                </a:lnTo>
                <a:close/>
              </a:path>
            </a:pathLst>
          </a:custGeom>
          <a:solidFill>
            <a:srgbClr val="10162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0" name="Shape 8"/>
          <p:cNvSpPr/>
          <p:nvPr/>
        </p:nvSpPr>
        <p:spPr>
          <a:xfrm>
            <a:off x="6095848" y="3788073"/>
            <a:ext cx="25399" cy="1044178"/>
          </a:xfrm>
          <a:prstGeom prst="roundRect">
            <a:avLst>
              <a:gd name="adj" fmla="val 50001"/>
            </a:avLst>
          </a:prstGeom>
          <a:solidFill>
            <a:srgbClr val="002A8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1" name="Text 9"/>
          <p:cNvSpPr/>
          <p:nvPr/>
        </p:nvSpPr>
        <p:spPr>
          <a:xfrm>
            <a:off x="6827395" y="3977084"/>
            <a:ext cx="4753848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850" b="1" kern="0" spc="-37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STANDALONE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6827395" y="4397573"/>
            <a:ext cx="4753848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Works independently of the vehicle's built-in systems.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80524" y="4832251"/>
            <a:ext cx="5415323" cy="1044178"/>
          </a:xfrm>
          <a:custGeom>
            <a:avLst/>
            <a:gdLst/>
            <a:ahLst/>
            <a:cxnLst/>
            <a:rect l="l" t="t" r="r" b="b"/>
            <a:pathLst>
              <a:path w="5415323" h="1044178">
                <a:moveTo>
                  <a:pt x="0" y="0"/>
                </a:moveTo>
                <a:lnTo>
                  <a:pt x="5415323" y="0"/>
                </a:lnTo>
                <a:lnTo>
                  <a:pt x="5415323" y="1044178"/>
                </a:lnTo>
                <a:lnTo>
                  <a:pt x="66156" y="1044178"/>
                </a:lnTo>
                <a:arcTo wR="66156" hR="66158" stAng="5400000" swAng="5400000"/>
                <a:lnTo>
                  <a:pt x="0" y="0"/>
                </a:lnTo>
                <a:close/>
              </a:path>
            </a:pathLst>
          </a:custGeom>
          <a:solidFill>
            <a:srgbClr val="10162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4" name="Shape 12"/>
          <p:cNvSpPr/>
          <p:nvPr/>
        </p:nvSpPr>
        <p:spPr>
          <a:xfrm>
            <a:off x="680524" y="4832251"/>
            <a:ext cx="5415323" cy="25400"/>
          </a:xfrm>
          <a:prstGeom prst="roundRect">
            <a:avLst>
              <a:gd name="adj" fmla="val 49999"/>
            </a:avLst>
          </a:prstGeom>
          <a:solidFill>
            <a:srgbClr val="002A8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5" name="Text 13"/>
          <p:cNvSpPr/>
          <p:nvPr/>
        </p:nvSpPr>
        <p:spPr>
          <a:xfrm>
            <a:off x="1357892" y="5021263"/>
            <a:ext cx="4753848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850" b="1" kern="0" spc="-37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REAL-TIME ALERT</a:t>
            </a:r>
            <a:endParaRPr lang="en-US" sz="1850" dirty="0"/>
          </a:p>
        </p:txBody>
      </p:sp>
      <p:sp>
        <p:nvSpPr>
          <p:cNvPr id="16" name="Text 14"/>
          <p:cNvSpPr/>
          <p:nvPr/>
        </p:nvSpPr>
        <p:spPr>
          <a:xfrm>
            <a:off x="1357892" y="5441752"/>
            <a:ext cx="4753848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Alerts the driver when a possible presence is detected.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095848" y="4832251"/>
            <a:ext cx="5415323" cy="1044178"/>
          </a:xfrm>
          <a:custGeom>
            <a:avLst/>
            <a:gdLst/>
            <a:ahLst/>
            <a:cxnLst/>
            <a:rect l="l" t="t" r="r" b="b"/>
            <a:pathLst>
              <a:path w="5415323" h="1044178">
                <a:moveTo>
                  <a:pt x="0" y="0"/>
                </a:moveTo>
                <a:lnTo>
                  <a:pt x="5415323" y="0"/>
                </a:lnTo>
                <a:lnTo>
                  <a:pt x="5415323" y="978020"/>
                </a:lnTo>
                <a:arcTo wR="66156" hR="66158" stAng="0" swAng="5400000"/>
                <a:lnTo>
                  <a:pt x="0" y="1044178"/>
                </a:lnTo>
                <a:lnTo>
                  <a:pt x="0" y="0"/>
                </a:lnTo>
                <a:close/>
              </a:path>
            </a:pathLst>
          </a:custGeom>
          <a:solidFill>
            <a:srgbClr val="10162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8" name="Shape 16"/>
          <p:cNvSpPr/>
          <p:nvPr/>
        </p:nvSpPr>
        <p:spPr>
          <a:xfrm>
            <a:off x="6095848" y="4832251"/>
            <a:ext cx="25399" cy="1044178"/>
          </a:xfrm>
          <a:prstGeom prst="roundRect">
            <a:avLst>
              <a:gd name="adj" fmla="val 50001"/>
            </a:avLst>
          </a:prstGeom>
          <a:solidFill>
            <a:srgbClr val="002A8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9" name="Shape 17"/>
          <p:cNvSpPr/>
          <p:nvPr/>
        </p:nvSpPr>
        <p:spPr>
          <a:xfrm>
            <a:off x="6095848" y="4832251"/>
            <a:ext cx="5415323" cy="25400"/>
          </a:xfrm>
          <a:prstGeom prst="roundRect">
            <a:avLst>
              <a:gd name="adj" fmla="val 49999"/>
            </a:avLst>
          </a:prstGeom>
          <a:solidFill>
            <a:srgbClr val="002A8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0" name="Text 18"/>
          <p:cNvSpPr/>
          <p:nvPr/>
        </p:nvSpPr>
        <p:spPr>
          <a:xfrm>
            <a:off x="6827395" y="5021263"/>
            <a:ext cx="4753848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850" b="1" kern="0" spc="-37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NO DRIVER ACTION REQUIRED</a:t>
            </a:r>
            <a:endParaRPr lang="en-US" sz="1850" dirty="0"/>
          </a:p>
        </p:txBody>
      </p:sp>
      <p:sp>
        <p:nvSpPr>
          <p:cNvPr id="21" name="Text 19"/>
          <p:cNvSpPr/>
          <p:nvPr/>
        </p:nvSpPr>
        <p:spPr>
          <a:xfrm>
            <a:off x="6827395" y="5441752"/>
            <a:ext cx="4753848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C.A.R.E runs without requiring the driver to activate it.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217754" y="4073922"/>
            <a:ext cx="472468" cy="472480"/>
          </a:xfrm>
          <a:prstGeom prst="roundRect">
            <a:avLst>
              <a:gd name="adj" fmla="val 16803"/>
            </a:avLst>
          </a:prstGeom>
          <a:solidFill>
            <a:srgbClr val="101620">
              <a:alpha val="95000"/>
            </a:srgbClr>
          </a:solidFill>
          <a:ln w="25399">
            <a:solidFill>
              <a:srgbClr val="002A8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4" name="Shape 21"/>
          <p:cNvSpPr/>
          <p:nvPr/>
        </p:nvSpPr>
        <p:spPr>
          <a:xfrm>
            <a:off x="6217754" y="5118100"/>
            <a:ext cx="472468" cy="472480"/>
          </a:xfrm>
          <a:prstGeom prst="roundRect">
            <a:avLst>
              <a:gd name="adj" fmla="val 16803"/>
            </a:avLst>
          </a:prstGeom>
          <a:solidFill>
            <a:srgbClr val="101620">
              <a:alpha val="95000"/>
            </a:srgbClr>
          </a:solidFill>
          <a:ln w="25399">
            <a:solidFill>
              <a:srgbClr val="002A8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pic>
        <p:nvPicPr>
          <p:cNvPr id="27" name="תמונה 26">
            <a:extLst>
              <a:ext uri="{FF2B5EF4-FFF2-40B4-BE49-F238E27FC236}">
                <a16:creationId xmlns:a16="http://schemas.microsoft.com/office/drawing/2014/main" id="{0F231507-0889-6BA4-6C11-7EF9FE9BC6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309" r="25139"/>
          <a:stretch>
            <a:fillRect/>
          </a:stretch>
        </p:blipFill>
        <p:spPr>
          <a:xfrm>
            <a:off x="10978752" y="86419"/>
            <a:ext cx="1102936" cy="1227236"/>
          </a:xfrm>
          <a:prstGeom prst="rect">
            <a:avLst/>
          </a:prstGeom>
        </p:spPr>
      </p:pic>
      <p:sp>
        <p:nvSpPr>
          <p:cNvPr id="29" name="מלבן 28">
            <a:extLst>
              <a:ext uri="{FF2B5EF4-FFF2-40B4-BE49-F238E27FC236}">
                <a16:creationId xmlns:a16="http://schemas.microsoft.com/office/drawing/2014/main" id="{2C97AA89-A216-388E-9185-A6469E4F14B9}"/>
              </a:ext>
            </a:extLst>
          </p:cNvPr>
          <p:cNvSpPr/>
          <p:nvPr/>
        </p:nvSpPr>
        <p:spPr>
          <a:xfrm>
            <a:off x="11019934" y="6504495"/>
            <a:ext cx="1102936" cy="307082"/>
          </a:xfrm>
          <a:prstGeom prst="rect">
            <a:avLst/>
          </a:prstGeom>
          <a:solidFill>
            <a:srgbClr val="10162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33" name="Shape 20">
            <a:extLst>
              <a:ext uri="{FF2B5EF4-FFF2-40B4-BE49-F238E27FC236}">
                <a16:creationId xmlns:a16="http://schemas.microsoft.com/office/drawing/2014/main" id="{C856AED3-41D7-FF68-7A60-4063C6BB1C87}"/>
              </a:ext>
            </a:extLst>
          </p:cNvPr>
          <p:cNvSpPr/>
          <p:nvPr/>
        </p:nvSpPr>
        <p:spPr>
          <a:xfrm>
            <a:off x="808393" y="4064466"/>
            <a:ext cx="472468" cy="472480"/>
          </a:xfrm>
          <a:prstGeom prst="roundRect">
            <a:avLst>
              <a:gd name="adj" fmla="val 16803"/>
            </a:avLst>
          </a:prstGeom>
          <a:solidFill>
            <a:srgbClr val="101620">
              <a:alpha val="95000"/>
            </a:srgbClr>
          </a:solidFill>
          <a:ln w="25399">
            <a:solidFill>
              <a:srgbClr val="002A8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5" name="Shape 21">
            <a:extLst>
              <a:ext uri="{FF2B5EF4-FFF2-40B4-BE49-F238E27FC236}">
                <a16:creationId xmlns:a16="http://schemas.microsoft.com/office/drawing/2014/main" id="{38D7832F-953D-EF9D-56DF-22B76039F9ED}"/>
              </a:ext>
            </a:extLst>
          </p:cNvPr>
          <p:cNvSpPr/>
          <p:nvPr/>
        </p:nvSpPr>
        <p:spPr>
          <a:xfrm>
            <a:off x="786602" y="5118100"/>
            <a:ext cx="472468" cy="472480"/>
          </a:xfrm>
          <a:prstGeom prst="roundRect">
            <a:avLst>
              <a:gd name="adj" fmla="val 16803"/>
            </a:avLst>
          </a:prstGeom>
          <a:solidFill>
            <a:srgbClr val="101620">
              <a:alpha val="95000"/>
            </a:srgbClr>
          </a:solidFill>
          <a:ln w="25399">
            <a:solidFill>
              <a:srgbClr val="002A8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pic>
        <p:nvPicPr>
          <p:cNvPr id="37" name="תמונה 36">
            <a:extLst>
              <a:ext uri="{FF2B5EF4-FFF2-40B4-BE49-F238E27FC236}">
                <a16:creationId xmlns:a16="http://schemas.microsoft.com/office/drawing/2014/main" id="{9D57BD40-D7D0-6429-92B7-24E9CAAF6BA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1099" t="4129" r="55964" b="48568"/>
          <a:stretch>
            <a:fillRect/>
          </a:stretch>
        </p:blipFill>
        <p:spPr>
          <a:xfrm>
            <a:off x="759566" y="4083516"/>
            <a:ext cx="505715" cy="484195"/>
          </a:xfrm>
          <a:prstGeom prst="rect">
            <a:avLst/>
          </a:prstGeom>
        </p:spPr>
      </p:pic>
      <p:pic>
        <p:nvPicPr>
          <p:cNvPr id="41" name="תמונה 40">
            <a:extLst>
              <a:ext uri="{FF2B5EF4-FFF2-40B4-BE49-F238E27FC236}">
                <a16:creationId xmlns:a16="http://schemas.microsoft.com/office/drawing/2014/main" id="{C4F35974-0CC8-A5C4-4E9B-4BC2E8AA864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179" t="53785" r="54618" b="9432"/>
          <a:stretch>
            <a:fillRect/>
          </a:stretch>
        </p:blipFill>
        <p:spPr>
          <a:xfrm>
            <a:off x="773420" y="5184475"/>
            <a:ext cx="482943" cy="336412"/>
          </a:xfrm>
          <a:prstGeom prst="rect">
            <a:avLst/>
          </a:prstGeom>
        </p:spPr>
      </p:pic>
      <p:pic>
        <p:nvPicPr>
          <p:cNvPr id="43" name="תמונה 42">
            <a:extLst>
              <a:ext uri="{FF2B5EF4-FFF2-40B4-BE49-F238E27FC236}">
                <a16:creationId xmlns:a16="http://schemas.microsoft.com/office/drawing/2014/main" id="{CE58A7F9-7F98-4900-846A-32F07EBB61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1541" t="4600" r="8547" b="49274"/>
          <a:stretch>
            <a:fillRect/>
          </a:stretch>
        </p:blipFill>
        <p:spPr>
          <a:xfrm>
            <a:off x="6217754" y="4116144"/>
            <a:ext cx="503627" cy="388037"/>
          </a:xfrm>
          <a:prstGeom prst="rect">
            <a:avLst/>
          </a:prstGeom>
        </p:spPr>
      </p:pic>
      <p:pic>
        <p:nvPicPr>
          <p:cNvPr id="45" name="תמונה 44">
            <a:extLst>
              <a:ext uri="{FF2B5EF4-FFF2-40B4-BE49-F238E27FC236}">
                <a16:creationId xmlns:a16="http://schemas.microsoft.com/office/drawing/2014/main" id="{516320E7-F0D1-F649-90B5-46F08FB86E3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6606" t="51879" r="11681" b="6674"/>
          <a:stretch>
            <a:fillRect/>
          </a:stretch>
        </p:blipFill>
        <p:spPr>
          <a:xfrm>
            <a:off x="6236802" y="5160321"/>
            <a:ext cx="472468" cy="41249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25475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850" b="1" kern="0" spc="-37" dirty="0">
                <a:solidFill>
                  <a:srgbClr val="38AFFF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SYSTEM FLOW</a:t>
            </a:r>
            <a:endParaRPr lang="en-US" sz="1850" dirty="0"/>
          </a:p>
        </p:txBody>
      </p:sp>
      <p:sp>
        <p:nvSpPr>
          <p:cNvPr id="3" name="Text 1"/>
          <p:cNvSpPr/>
          <p:nvPr/>
        </p:nvSpPr>
        <p:spPr>
          <a:xfrm>
            <a:off x="661475" y="1008162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700" b="1" kern="0" spc="-74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HOW C.A.R.E WORKS</a:t>
            </a:r>
            <a:endParaRPr lang="en-US" sz="3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9830" y="1905893"/>
            <a:ext cx="8452035" cy="386834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341606" y="4849511"/>
            <a:ext cx="1586817" cy="317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900" b="1" kern="0" spc="-39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ALERT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6341783" y="4849511"/>
            <a:ext cx="1586817" cy="317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900" b="1" kern="0" spc="-39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DETECT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4352827" y="4849511"/>
            <a:ext cx="1586817" cy="317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900" b="1" kern="0" spc="-39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SCAN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2320397" y="4849511"/>
            <a:ext cx="1586817" cy="317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900" b="1" kern="0" spc="-39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CAR OFF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356682" y="5986859"/>
            <a:ext cx="11478330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4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entire process runs automatically after vehicle shutdown - no driver activation required.</a:t>
            </a:r>
            <a:endParaRPr lang="en-US" sz="1450" dirty="0"/>
          </a:p>
        </p:txBody>
      </p:sp>
      <p:sp>
        <p:nvSpPr>
          <p:cNvPr id="11" name="תיבת טקסט 10">
            <a:extLst>
              <a:ext uri="{FF2B5EF4-FFF2-40B4-BE49-F238E27FC236}">
                <a16:creationId xmlns:a16="http://schemas.microsoft.com/office/drawing/2014/main" id="{82F33168-07B0-A944-52CD-7E83E087189C}"/>
              </a:ext>
            </a:extLst>
          </p:cNvPr>
          <p:cNvSpPr txBox="1"/>
          <p:nvPr/>
        </p:nvSpPr>
        <p:spPr>
          <a:xfrm>
            <a:off x="8330739" y="5168465"/>
            <a:ext cx="1860061" cy="317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lvl1pPr indent="0" algn="ctr">
              <a:lnSpc>
                <a:spcPct val="108000"/>
              </a:lnSpc>
              <a:buNone/>
              <a:defRPr sz="145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defRPr>
            </a:lvl1pPr>
          </a:lstStyle>
          <a:p>
            <a:r>
              <a:rPr lang="en-US" dirty="0"/>
              <a:t>Driver is notified</a:t>
            </a:r>
            <a:endParaRPr lang="he-IL" dirty="0"/>
          </a:p>
        </p:txBody>
      </p:sp>
      <p:sp>
        <p:nvSpPr>
          <p:cNvPr id="13" name="תיבת טקסט 12">
            <a:extLst>
              <a:ext uri="{FF2B5EF4-FFF2-40B4-BE49-F238E27FC236}">
                <a16:creationId xmlns:a16="http://schemas.microsoft.com/office/drawing/2014/main" id="{808CCAD6-869F-6046-D34D-1F130C8AC4E0}"/>
              </a:ext>
            </a:extLst>
          </p:cNvPr>
          <p:cNvSpPr txBox="1"/>
          <p:nvPr/>
        </p:nvSpPr>
        <p:spPr>
          <a:xfrm>
            <a:off x="2183774" y="5168465"/>
            <a:ext cx="1860061" cy="317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lvl1pPr indent="0" algn="ctr">
              <a:lnSpc>
                <a:spcPct val="108000"/>
              </a:lnSpc>
              <a:buNone/>
              <a:defRPr sz="145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defRPr>
            </a:lvl1pPr>
          </a:lstStyle>
          <a:p>
            <a:r>
              <a:rPr lang="en-US" dirty="0"/>
              <a:t>Vehicle shuts down</a:t>
            </a:r>
            <a:endParaRPr lang="he-IL" dirty="0"/>
          </a:p>
        </p:txBody>
      </p:sp>
      <p:sp>
        <p:nvSpPr>
          <p:cNvPr id="15" name="תיבת טקסט 14">
            <a:extLst>
              <a:ext uri="{FF2B5EF4-FFF2-40B4-BE49-F238E27FC236}">
                <a16:creationId xmlns:a16="http://schemas.microsoft.com/office/drawing/2014/main" id="{1675645B-945A-8499-F41E-0D4672F88BA8}"/>
              </a:ext>
            </a:extLst>
          </p:cNvPr>
          <p:cNvSpPr txBox="1"/>
          <p:nvPr/>
        </p:nvSpPr>
        <p:spPr>
          <a:xfrm>
            <a:off x="6205160" y="5168465"/>
            <a:ext cx="1860061" cy="317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lvl1pPr indent="0" algn="ctr">
              <a:lnSpc>
                <a:spcPct val="108000"/>
              </a:lnSpc>
              <a:buNone/>
              <a:defRPr sz="145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defRPr>
            </a:lvl1pPr>
          </a:lstStyle>
          <a:p>
            <a:r>
              <a:rPr lang="en-US" dirty="0"/>
              <a:t>Either source detects</a:t>
            </a:r>
            <a:endParaRPr lang="he-IL" dirty="0"/>
          </a:p>
        </p:txBody>
      </p:sp>
      <p:sp>
        <p:nvSpPr>
          <p:cNvPr id="17" name="תיבת טקסט 16">
            <a:extLst>
              <a:ext uri="{FF2B5EF4-FFF2-40B4-BE49-F238E27FC236}">
                <a16:creationId xmlns:a16="http://schemas.microsoft.com/office/drawing/2014/main" id="{1EBAA170-6C05-D03C-7809-06B3FFD5074F}"/>
              </a:ext>
            </a:extLst>
          </p:cNvPr>
          <p:cNvSpPr txBox="1"/>
          <p:nvPr/>
        </p:nvSpPr>
        <p:spPr>
          <a:xfrm>
            <a:off x="4216204" y="5168465"/>
            <a:ext cx="1860061" cy="317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lvl1pPr indent="0" algn="ctr">
              <a:lnSpc>
                <a:spcPct val="108000"/>
              </a:lnSpc>
              <a:buNone/>
              <a:defRPr sz="145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defRPr>
            </a:lvl1pPr>
          </a:lstStyle>
          <a:p>
            <a:r>
              <a:rPr lang="en-US" dirty="0"/>
              <a:t>PIR + Camera</a:t>
            </a:r>
            <a:endParaRPr lang="he-IL" dirty="0"/>
          </a:p>
        </p:txBody>
      </p:sp>
      <p:pic>
        <p:nvPicPr>
          <p:cNvPr id="19" name="תמונה 18">
            <a:extLst>
              <a:ext uri="{FF2B5EF4-FFF2-40B4-BE49-F238E27FC236}">
                <a16:creationId xmlns:a16="http://schemas.microsoft.com/office/drawing/2014/main" id="{93D00C33-A3F0-41EF-CDDA-AB4A16CD769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309" r="25139"/>
          <a:stretch>
            <a:fillRect/>
          </a:stretch>
        </p:blipFill>
        <p:spPr>
          <a:xfrm>
            <a:off x="10978752" y="86419"/>
            <a:ext cx="1102936" cy="1227236"/>
          </a:xfrm>
          <a:prstGeom prst="rect">
            <a:avLst/>
          </a:prstGeom>
        </p:spPr>
      </p:pic>
      <p:sp>
        <p:nvSpPr>
          <p:cNvPr id="21" name="מלבן 20">
            <a:extLst>
              <a:ext uri="{FF2B5EF4-FFF2-40B4-BE49-F238E27FC236}">
                <a16:creationId xmlns:a16="http://schemas.microsoft.com/office/drawing/2014/main" id="{FA4EB967-356F-AE1A-CF91-DA4B563AE7F8}"/>
              </a:ext>
            </a:extLst>
          </p:cNvPr>
          <p:cNvSpPr/>
          <p:nvPr/>
        </p:nvSpPr>
        <p:spPr>
          <a:xfrm>
            <a:off x="11019934" y="6504495"/>
            <a:ext cx="1102936" cy="307082"/>
          </a:xfrm>
          <a:prstGeom prst="rect">
            <a:avLst/>
          </a:prstGeom>
          <a:solidFill>
            <a:srgbClr val="10162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7745"/>
            <a:ext cx="10868745" cy="261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550" b="1" kern="0" spc="-32" dirty="0">
                <a:solidFill>
                  <a:srgbClr val="38AFFF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DETECTION LOGIC</a:t>
            </a:r>
            <a:endParaRPr lang="en-US" sz="1550" dirty="0"/>
          </a:p>
        </p:txBody>
      </p:sp>
      <p:sp>
        <p:nvSpPr>
          <p:cNvPr id="3" name="Text 1"/>
          <p:cNvSpPr/>
          <p:nvPr/>
        </p:nvSpPr>
        <p:spPr>
          <a:xfrm>
            <a:off x="661475" y="843359"/>
            <a:ext cx="10868745" cy="522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150" b="1" kern="0" spc="-63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TWO DETECTION SOURCES</a:t>
            </a:r>
            <a:endParaRPr lang="en-US" sz="3150" dirty="0"/>
          </a:p>
        </p:txBody>
      </p:sp>
      <p:sp>
        <p:nvSpPr>
          <p:cNvPr id="5" name="Text 2"/>
          <p:cNvSpPr/>
          <p:nvPr/>
        </p:nvSpPr>
        <p:spPr>
          <a:xfrm>
            <a:off x="6298149" y="2505075"/>
            <a:ext cx="5238421" cy="313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850" b="1" kern="0" spc="-38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Either source can trigger the alert.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6298149" y="2954834"/>
            <a:ext cx="5848005" cy="193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two detection inputs operate </a:t>
            </a:r>
            <a:r>
              <a:rPr lang="en-US" sz="12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independently</a:t>
            </a:r>
            <a:r>
              <a:rPr lang="en-US" sz="12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12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98149" y="3301504"/>
            <a:ext cx="2550949" cy="14041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554028" y="3481189"/>
            <a:ext cx="2115390" cy="261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550" b="1" kern="0" spc="-32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PIR Motion Sensor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6554028" y="4030861"/>
            <a:ext cx="2115390" cy="386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Detects physical motion inside the vehicle.</a:t>
            </a:r>
            <a:endParaRPr lang="en-US" sz="12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5621" y="3301504"/>
            <a:ext cx="2550949" cy="14041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241498" y="3481189"/>
            <a:ext cx="2115391" cy="5220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550" b="1" kern="0" spc="-32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Camera + Image Analysis</a:t>
            </a:r>
            <a:endParaRPr lang="en-US" sz="1550" dirty="0"/>
          </a:p>
        </p:txBody>
      </p:sp>
      <p:sp>
        <p:nvSpPr>
          <p:cNvPr id="12" name="Text 7"/>
          <p:cNvSpPr/>
          <p:nvPr/>
        </p:nvSpPr>
        <p:spPr>
          <a:xfrm>
            <a:off x="9241498" y="4068669"/>
            <a:ext cx="2115390" cy="386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Detects body or face presence visually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298149" y="4859238"/>
            <a:ext cx="5238421" cy="518914"/>
          </a:xfrm>
          <a:prstGeom prst="roundRect">
            <a:avLst>
              <a:gd name="adj" fmla="val 13004"/>
            </a:avLst>
          </a:prstGeom>
          <a:solidFill>
            <a:srgbClr val="002A80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8781" y="5047655"/>
            <a:ext cx="200814" cy="16063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820225" y="5022155"/>
            <a:ext cx="5165298" cy="193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OR logic — not AND.</a:t>
            </a:r>
            <a:r>
              <a:rPr lang="en-US" sz="125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One trigger is all it takes.</a:t>
            </a:r>
            <a:endParaRPr lang="en-US" sz="1250" dirty="0"/>
          </a:p>
        </p:txBody>
      </p:sp>
      <p:pic>
        <p:nvPicPr>
          <p:cNvPr id="17" name="תמונה 16">
            <a:extLst>
              <a:ext uri="{FF2B5EF4-FFF2-40B4-BE49-F238E27FC236}">
                <a16:creationId xmlns:a16="http://schemas.microsoft.com/office/drawing/2014/main" id="{658F1432-4F57-0FCC-B887-5650FCAFD40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4309" r="25139"/>
          <a:stretch>
            <a:fillRect/>
          </a:stretch>
        </p:blipFill>
        <p:spPr>
          <a:xfrm>
            <a:off x="10978752" y="86419"/>
            <a:ext cx="1102936" cy="1227236"/>
          </a:xfrm>
          <a:prstGeom prst="rect">
            <a:avLst/>
          </a:prstGeom>
        </p:spPr>
      </p:pic>
      <p:sp>
        <p:nvSpPr>
          <p:cNvPr id="19" name="מלבן 18">
            <a:extLst>
              <a:ext uri="{FF2B5EF4-FFF2-40B4-BE49-F238E27FC236}">
                <a16:creationId xmlns:a16="http://schemas.microsoft.com/office/drawing/2014/main" id="{F5C577E2-E30E-A2C7-8521-72586AA6C971}"/>
              </a:ext>
            </a:extLst>
          </p:cNvPr>
          <p:cNvSpPr/>
          <p:nvPr/>
        </p:nvSpPr>
        <p:spPr>
          <a:xfrm>
            <a:off x="11019934" y="6504495"/>
            <a:ext cx="1102936" cy="307082"/>
          </a:xfrm>
          <a:prstGeom prst="rect">
            <a:avLst/>
          </a:prstGeom>
          <a:solidFill>
            <a:srgbClr val="10162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pic>
        <p:nvPicPr>
          <p:cNvPr id="21" name="תמונה 20">
            <a:extLst>
              <a:ext uri="{FF2B5EF4-FFF2-40B4-BE49-F238E27FC236}">
                <a16:creationId xmlns:a16="http://schemas.microsoft.com/office/drawing/2014/main" id="{90210543-53AB-5DB5-8A6B-5C8699B09D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477" y="2124008"/>
            <a:ext cx="5835950" cy="38906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22511"/>
            <a:ext cx="10868745" cy="199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b="1" kern="0" spc="-24" dirty="0">
                <a:solidFill>
                  <a:srgbClr val="38AFFF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HARDWARE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61475" y="953988"/>
            <a:ext cx="10868745" cy="3992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400" b="1" kern="0" spc="-48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THE SYSTEM WE BUILT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6252014" y="1178971"/>
            <a:ext cx="245659" cy="1596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kern="0" spc="-19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01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6252014" y="1381079"/>
            <a:ext cx="5284556" cy="12700"/>
          </a:xfrm>
          <a:prstGeom prst="rect">
            <a:avLst/>
          </a:prstGeom>
          <a:solidFill>
            <a:srgbClr val="487CF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7" name="Text 4"/>
          <p:cNvSpPr/>
          <p:nvPr/>
        </p:nvSpPr>
        <p:spPr>
          <a:xfrm>
            <a:off x="6252014" y="1467896"/>
            <a:ext cx="5284556" cy="199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b="1" kern="0" spc="-24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Raspberry Pi 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252014" y="1747296"/>
            <a:ext cx="5284556" cy="1316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9000"/>
              </a:lnSpc>
              <a:buNone/>
            </a:pPr>
            <a:r>
              <a:rPr lang="en-US" sz="9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Main processing unit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6252014" y="2050806"/>
            <a:ext cx="245659" cy="1596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kern="0" spc="-19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02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252014" y="2240611"/>
            <a:ext cx="5284556" cy="12700"/>
          </a:xfrm>
          <a:prstGeom prst="rect">
            <a:avLst/>
          </a:prstGeom>
          <a:solidFill>
            <a:srgbClr val="487CF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1" name="Text 8"/>
          <p:cNvSpPr/>
          <p:nvPr/>
        </p:nvSpPr>
        <p:spPr>
          <a:xfrm>
            <a:off x="6252014" y="2339731"/>
            <a:ext cx="5284556" cy="199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b="1" kern="0" spc="-24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Camera Module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252014" y="2619131"/>
            <a:ext cx="5284556" cy="1316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9000"/>
              </a:lnSpc>
              <a:buNone/>
            </a:pPr>
            <a:r>
              <a:rPr lang="en-US" sz="9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Captures images for visual analysis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6252014" y="2922641"/>
            <a:ext cx="245659" cy="1596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kern="0" spc="-19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03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252014" y="3100242"/>
            <a:ext cx="5284556" cy="12700"/>
          </a:xfrm>
          <a:prstGeom prst="rect">
            <a:avLst/>
          </a:prstGeom>
          <a:solidFill>
            <a:srgbClr val="487CF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5" name="Text 12"/>
          <p:cNvSpPr/>
          <p:nvPr/>
        </p:nvSpPr>
        <p:spPr>
          <a:xfrm>
            <a:off x="6252014" y="3211566"/>
            <a:ext cx="5284556" cy="199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b="1" kern="0" spc="-24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PIR Motion Sensor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252014" y="3490966"/>
            <a:ext cx="5284556" cy="1316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9000"/>
              </a:lnSpc>
              <a:buNone/>
            </a:pPr>
            <a:r>
              <a:rPr lang="en-US" sz="9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Provides independent motion detection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6252014" y="3794476"/>
            <a:ext cx="245659" cy="1596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kern="0" spc="-19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04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252014" y="3959774"/>
            <a:ext cx="5284556" cy="12700"/>
          </a:xfrm>
          <a:prstGeom prst="rect">
            <a:avLst/>
          </a:prstGeom>
          <a:solidFill>
            <a:srgbClr val="487CF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9" name="Text 16"/>
          <p:cNvSpPr/>
          <p:nvPr/>
        </p:nvSpPr>
        <p:spPr>
          <a:xfrm>
            <a:off x="6252014" y="4083401"/>
            <a:ext cx="5284556" cy="199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b="1" kern="0" spc="-24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AUTOMATIC CONNECTIVITY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252014" y="4362801"/>
            <a:ext cx="5284556" cy="1316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9000"/>
              </a:lnSpc>
              <a:buNone/>
            </a:pPr>
            <a:r>
              <a:rPr lang="en-US" sz="9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Uses known Wi-Fi when available; otherwise switches to the cellular network.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252014" y="4666311"/>
            <a:ext cx="245659" cy="1596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kern="0" spc="-19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05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252014" y="4819406"/>
            <a:ext cx="5284556" cy="12700"/>
          </a:xfrm>
          <a:prstGeom prst="rect">
            <a:avLst/>
          </a:prstGeom>
          <a:solidFill>
            <a:srgbClr val="487CF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3" name="Text 20"/>
          <p:cNvSpPr/>
          <p:nvPr/>
        </p:nvSpPr>
        <p:spPr>
          <a:xfrm>
            <a:off x="6252014" y="4955236"/>
            <a:ext cx="5284556" cy="199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b="1" kern="0" spc="-24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Cooling Fan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252014" y="5234636"/>
            <a:ext cx="5284556" cy="1316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9000"/>
              </a:lnSpc>
              <a:buNone/>
            </a:pPr>
            <a:r>
              <a:rPr lang="en-US" sz="9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Keeps the system cool during operation</a:t>
            </a:r>
            <a:endParaRPr lang="en-US" sz="950" dirty="0"/>
          </a:p>
        </p:txBody>
      </p:sp>
      <p:pic>
        <p:nvPicPr>
          <p:cNvPr id="27" name="תמונה 26">
            <a:extLst>
              <a:ext uri="{FF2B5EF4-FFF2-40B4-BE49-F238E27FC236}">
                <a16:creationId xmlns:a16="http://schemas.microsoft.com/office/drawing/2014/main" id="{8AEB38CC-88C0-D25A-9EBA-E2630F89E63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309" r="25139"/>
          <a:stretch>
            <a:fillRect/>
          </a:stretch>
        </p:blipFill>
        <p:spPr>
          <a:xfrm>
            <a:off x="10978752" y="86419"/>
            <a:ext cx="1102936" cy="1227236"/>
          </a:xfrm>
          <a:prstGeom prst="rect">
            <a:avLst/>
          </a:prstGeom>
        </p:spPr>
      </p:pic>
      <p:sp>
        <p:nvSpPr>
          <p:cNvPr id="31" name="Text 18">
            <a:extLst>
              <a:ext uri="{FF2B5EF4-FFF2-40B4-BE49-F238E27FC236}">
                <a16:creationId xmlns:a16="http://schemas.microsoft.com/office/drawing/2014/main" id="{91CA8828-86CF-CD72-B983-E5D2F810D8A3}"/>
              </a:ext>
            </a:extLst>
          </p:cNvPr>
          <p:cNvSpPr/>
          <p:nvPr/>
        </p:nvSpPr>
        <p:spPr>
          <a:xfrm>
            <a:off x="6252014" y="5545698"/>
            <a:ext cx="245659" cy="1596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kern="0" spc="-19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06</a:t>
            </a:r>
            <a:endParaRPr lang="en-US" sz="950" dirty="0"/>
          </a:p>
        </p:txBody>
      </p:sp>
      <p:sp>
        <p:nvSpPr>
          <p:cNvPr id="33" name="Shape 19">
            <a:extLst>
              <a:ext uri="{FF2B5EF4-FFF2-40B4-BE49-F238E27FC236}">
                <a16:creationId xmlns:a16="http://schemas.microsoft.com/office/drawing/2014/main" id="{92728F26-55DE-7DDA-B78D-4F6021B62A6C}"/>
              </a:ext>
            </a:extLst>
          </p:cNvPr>
          <p:cNvSpPr/>
          <p:nvPr/>
        </p:nvSpPr>
        <p:spPr>
          <a:xfrm>
            <a:off x="6252014" y="5698793"/>
            <a:ext cx="5284556" cy="12700"/>
          </a:xfrm>
          <a:prstGeom prst="rect">
            <a:avLst/>
          </a:prstGeom>
          <a:solidFill>
            <a:srgbClr val="487CF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5" name="Text 20">
            <a:extLst>
              <a:ext uri="{FF2B5EF4-FFF2-40B4-BE49-F238E27FC236}">
                <a16:creationId xmlns:a16="http://schemas.microsoft.com/office/drawing/2014/main" id="{C102C372-4DCC-367E-BEDE-21798EE332E1}"/>
              </a:ext>
            </a:extLst>
          </p:cNvPr>
          <p:cNvSpPr/>
          <p:nvPr/>
        </p:nvSpPr>
        <p:spPr>
          <a:xfrm>
            <a:off x="6252014" y="5834623"/>
            <a:ext cx="5284556" cy="199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b="1" kern="0" spc="-24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Backup Power System</a:t>
            </a:r>
            <a:endParaRPr lang="en-US" sz="1200" dirty="0"/>
          </a:p>
        </p:txBody>
      </p:sp>
      <p:sp>
        <p:nvSpPr>
          <p:cNvPr id="37" name="Text 21">
            <a:extLst>
              <a:ext uri="{FF2B5EF4-FFF2-40B4-BE49-F238E27FC236}">
                <a16:creationId xmlns:a16="http://schemas.microsoft.com/office/drawing/2014/main" id="{73C3789D-5FBB-2B79-00C7-DC3FDDE9720B}"/>
              </a:ext>
            </a:extLst>
          </p:cNvPr>
          <p:cNvSpPr/>
          <p:nvPr/>
        </p:nvSpPr>
        <p:spPr>
          <a:xfrm>
            <a:off x="6252014" y="6114023"/>
            <a:ext cx="5284556" cy="1316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9000"/>
              </a:lnSpc>
              <a:buNone/>
            </a:pPr>
            <a:r>
              <a:rPr lang="en-US" sz="9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Recharges while driving and powers C.A.R.E after vehicle shutdown.</a:t>
            </a:r>
            <a:endParaRPr lang="en-US" sz="950" dirty="0"/>
          </a:p>
        </p:txBody>
      </p:sp>
      <p:sp>
        <p:nvSpPr>
          <p:cNvPr id="41" name="מלבן 40">
            <a:extLst>
              <a:ext uri="{FF2B5EF4-FFF2-40B4-BE49-F238E27FC236}">
                <a16:creationId xmlns:a16="http://schemas.microsoft.com/office/drawing/2014/main" id="{EF9B5BB3-BA22-8AFC-2F80-C637DED53FA0}"/>
              </a:ext>
            </a:extLst>
          </p:cNvPr>
          <p:cNvSpPr/>
          <p:nvPr/>
        </p:nvSpPr>
        <p:spPr>
          <a:xfrm>
            <a:off x="11019934" y="6504495"/>
            <a:ext cx="1102936" cy="307082"/>
          </a:xfrm>
          <a:prstGeom prst="rect">
            <a:avLst/>
          </a:prstGeom>
          <a:solidFill>
            <a:srgbClr val="10162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pic>
        <p:nvPicPr>
          <p:cNvPr id="45" name="תמונה 44">
            <a:extLst>
              <a:ext uri="{FF2B5EF4-FFF2-40B4-BE49-F238E27FC236}">
                <a16:creationId xmlns:a16="http://schemas.microsoft.com/office/drawing/2014/main" id="{DC0F641B-0685-08AD-B673-A9A1F03E58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905" y="1920131"/>
            <a:ext cx="5644550" cy="3763033"/>
          </a:xfrm>
          <a:prstGeom prst="rect">
            <a:avLst/>
          </a:prstGeom>
        </p:spPr>
      </p:pic>
      <p:pic>
        <p:nvPicPr>
          <p:cNvPr id="47" name="תמונה 46">
            <a:extLst>
              <a:ext uri="{FF2B5EF4-FFF2-40B4-BE49-F238E27FC236}">
                <a16:creationId xmlns:a16="http://schemas.microsoft.com/office/drawing/2014/main" id="{67DE096E-1AEE-3BDF-5E48-16E7AD66F0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4808" y="614585"/>
            <a:ext cx="1674647" cy="94929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33809"/>
            <a:ext cx="10868745" cy="2634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550" b="1" kern="0" spc="-32" dirty="0">
                <a:solidFill>
                  <a:srgbClr val="38AFFF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SYSTEM ARCHITECTURE</a:t>
            </a:r>
            <a:endParaRPr lang="en-US" sz="1550" dirty="0"/>
          </a:p>
        </p:txBody>
      </p:sp>
      <p:sp>
        <p:nvSpPr>
          <p:cNvPr id="3" name="Text 1"/>
          <p:cNvSpPr/>
          <p:nvPr/>
        </p:nvSpPr>
        <p:spPr>
          <a:xfrm>
            <a:off x="661475" y="952798"/>
            <a:ext cx="10868745" cy="5269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150" b="1" kern="0" spc="-64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FROM DETECTION TO ALERT</a:t>
            </a:r>
            <a:endParaRPr lang="en-US" sz="3150" dirty="0"/>
          </a:p>
        </p:txBody>
      </p:sp>
      <p:sp>
        <p:nvSpPr>
          <p:cNvPr id="9" name="Text 6"/>
          <p:cNvSpPr/>
          <p:nvPr/>
        </p:nvSpPr>
        <p:spPr>
          <a:xfrm>
            <a:off x="356682" y="6028333"/>
            <a:ext cx="11478330" cy="195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1000"/>
              </a:lnSpc>
              <a:buNone/>
            </a:pPr>
            <a:r>
              <a:rPr lang="en-US" sz="15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From detection to driver alert — automatically.</a:t>
            </a:r>
            <a:endParaRPr lang="en-US" sz="1500" dirty="0"/>
          </a:p>
        </p:txBody>
      </p:sp>
      <p:pic>
        <p:nvPicPr>
          <p:cNvPr id="11" name="תמונה 10">
            <a:extLst>
              <a:ext uri="{FF2B5EF4-FFF2-40B4-BE49-F238E27FC236}">
                <a16:creationId xmlns:a16="http://schemas.microsoft.com/office/drawing/2014/main" id="{C7D889F7-1E0C-F38E-A9D1-5B751F916A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309" r="25139"/>
          <a:stretch>
            <a:fillRect/>
          </a:stretch>
        </p:blipFill>
        <p:spPr>
          <a:xfrm>
            <a:off x="10978752" y="86419"/>
            <a:ext cx="1102936" cy="1227236"/>
          </a:xfrm>
          <a:prstGeom prst="rect">
            <a:avLst/>
          </a:prstGeom>
        </p:spPr>
      </p:pic>
      <p:sp>
        <p:nvSpPr>
          <p:cNvPr id="13" name="מלבן 12">
            <a:extLst>
              <a:ext uri="{FF2B5EF4-FFF2-40B4-BE49-F238E27FC236}">
                <a16:creationId xmlns:a16="http://schemas.microsoft.com/office/drawing/2014/main" id="{361333FE-5557-25EB-F891-0D5C6742EE23}"/>
              </a:ext>
            </a:extLst>
          </p:cNvPr>
          <p:cNvSpPr/>
          <p:nvPr/>
        </p:nvSpPr>
        <p:spPr>
          <a:xfrm>
            <a:off x="11019934" y="6504495"/>
            <a:ext cx="1102936" cy="307082"/>
          </a:xfrm>
          <a:prstGeom prst="rect">
            <a:avLst/>
          </a:prstGeom>
          <a:solidFill>
            <a:srgbClr val="10162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pic>
        <p:nvPicPr>
          <p:cNvPr id="19" name="תמונה 18">
            <a:extLst>
              <a:ext uri="{FF2B5EF4-FFF2-40B4-BE49-F238E27FC236}">
                <a16:creationId xmlns:a16="http://schemas.microsoft.com/office/drawing/2014/main" id="{4631228D-7BE8-7660-0824-4555342666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431315"/>
            <a:ext cx="12192000" cy="399537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תמונה 34">
            <a:extLst>
              <a:ext uri="{FF2B5EF4-FFF2-40B4-BE49-F238E27FC236}">
                <a16:creationId xmlns:a16="http://schemas.microsoft.com/office/drawing/2014/main" id="{78C8602D-BE94-7E6C-3B98-9D53978EF5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6" y="6837"/>
            <a:ext cx="7110032" cy="649765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427209"/>
            <a:ext cx="6296860" cy="5529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000" b="1" kern="0" spc="-67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WHY </a:t>
            </a:r>
            <a:r>
              <a:rPr lang="en-US" sz="4000" b="1" kern="0" spc="-67" dirty="0">
                <a:solidFill>
                  <a:srgbClr val="38AFFF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C.A.R.E?</a:t>
            </a:r>
            <a:endParaRPr lang="en-US" sz="4000" dirty="0">
              <a:solidFill>
                <a:srgbClr val="38AFFF"/>
              </a:solidFill>
            </a:endParaRPr>
          </a:p>
        </p:txBody>
      </p:sp>
      <p:sp>
        <p:nvSpPr>
          <p:cNvPr id="4" name="Shape 1"/>
          <p:cNvSpPr/>
          <p:nvPr/>
        </p:nvSpPr>
        <p:spPr>
          <a:xfrm>
            <a:off x="5233360" y="1314252"/>
            <a:ext cx="6296860" cy="956469"/>
          </a:xfrm>
          <a:prstGeom prst="roundRect">
            <a:avLst>
              <a:gd name="adj" fmla="val 7470"/>
            </a:avLst>
          </a:prstGeom>
          <a:solidFill>
            <a:srgbClr val="101620">
              <a:alpha val="95000"/>
            </a:srgbClr>
          </a:solidFill>
          <a:ln w="19050">
            <a:solidFill>
              <a:srgbClr val="002A8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5" name="Text 2"/>
          <p:cNvSpPr/>
          <p:nvPr/>
        </p:nvSpPr>
        <p:spPr>
          <a:xfrm>
            <a:off x="5407184" y="1503363"/>
            <a:ext cx="5918647" cy="276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50" b="1" kern="0" spc="-33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AUTONOMOUS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5422467" y="1831708"/>
            <a:ext cx="5918647" cy="2101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3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Activates automatically after vehicle shutdown - no driver action </a:t>
            </a:r>
          </a:p>
          <a:p>
            <a:pPr marL="0" indent="0" algn="l">
              <a:lnSpc>
                <a:spcPct val="103000"/>
              </a:lnSpc>
              <a:buNone/>
            </a:pPr>
            <a:r>
              <a:rPr lang="en-US" sz="13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required.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233360" y="2423815"/>
            <a:ext cx="6296860" cy="956469"/>
          </a:xfrm>
          <a:prstGeom prst="roundRect">
            <a:avLst>
              <a:gd name="adj" fmla="val 7470"/>
            </a:avLst>
          </a:prstGeom>
          <a:solidFill>
            <a:srgbClr val="101620">
              <a:alpha val="95000"/>
            </a:srgbClr>
          </a:solidFill>
          <a:ln w="19050">
            <a:solidFill>
              <a:srgbClr val="002A8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8" name="Text 5"/>
          <p:cNvSpPr/>
          <p:nvPr/>
        </p:nvSpPr>
        <p:spPr>
          <a:xfrm>
            <a:off x="4992794" y="2612926"/>
            <a:ext cx="5918647" cy="276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50" b="1" kern="0" spc="-33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         DUAL DETECTION</a:t>
            </a:r>
          </a:p>
          <a:p>
            <a:pPr marL="0" indent="0" algn="l">
              <a:lnSpc>
                <a:spcPct val="108000"/>
              </a:lnSpc>
              <a:buNone/>
            </a:pP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5422467" y="2941271"/>
            <a:ext cx="5918647" cy="2101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3000"/>
              </a:lnSpc>
            </a:pPr>
            <a:r>
              <a:rPr lang="en-US" sz="13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PIR motion sensing and image analysis operate independently.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233360" y="3533378"/>
            <a:ext cx="6296860" cy="956469"/>
          </a:xfrm>
          <a:prstGeom prst="roundRect">
            <a:avLst>
              <a:gd name="adj" fmla="val 7470"/>
            </a:avLst>
          </a:prstGeom>
          <a:solidFill>
            <a:srgbClr val="101620">
              <a:alpha val="95000"/>
            </a:srgbClr>
          </a:solidFill>
          <a:ln w="19050">
            <a:solidFill>
              <a:srgbClr val="002A8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Text 8"/>
          <p:cNvSpPr/>
          <p:nvPr/>
        </p:nvSpPr>
        <p:spPr>
          <a:xfrm>
            <a:off x="5389939" y="3719712"/>
            <a:ext cx="5918647" cy="276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50" b="1" kern="0" spc="-33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RELIABLE CONNECTIVITY</a:t>
            </a:r>
          </a:p>
          <a:p>
            <a:pPr marL="0" indent="0" algn="l">
              <a:lnSpc>
                <a:spcPct val="108000"/>
              </a:lnSpc>
              <a:buNone/>
            </a:pP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5422467" y="4050835"/>
            <a:ext cx="5918647" cy="2101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3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Uses known Wi-Fi when available, with 4G cellular fallback.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233360" y="4642941"/>
            <a:ext cx="6296860" cy="956469"/>
          </a:xfrm>
          <a:prstGeom prst="roundRect">
            <a:avLst>
              <a:gd name="adj" fmla="val 7470"/>
            </a:avLst>
          </a:prstGeom>
          <a:solidFill>
            <a:srgbClr val="101620">
              <a:alpha val="95000"/>
            </a:srgbClr>
          </a:solidFill>
          <a:ln w="19050">
            <a:solidFill>
              <a:srgbClr val="002A8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4" name="Text 11"/>
          <p:cNvSpPr/>
          <p:nvPr/>
        </p:nvSpPr>
        <p:spPr>
          <a:xfrm>
            <a:off x="5422467" y="4832052"/>
            <a:ext cx="5918647" cy="276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50" b="1" kern="0" spc="-33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UNIVERSAL DESIGN</a:t>
            </a:r>
          </a:p>
          <a:p>
            <a:pPr marL="0" indent="0" algn="l">
              <a:lnSpc>
                <a:spcPct val="108000"/>
              </a:lnSpc>
              <a:buNone/>
            </a:pP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5422467" y="5160398"/>
            <a:ext cx="5918647" cy="2101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3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Standalone — no integration with the vehicle’s built-in systems.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183653" y="5943898"/>
            <a:ext cx="6651359" cy="2101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An extra layer of protection, without changing driver behavior.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233360" y="5771654"/>
            <a:ext cx="19050" cy="554633"/>
          </a:xfrm>
          <a:prstGeom prst="roundRect">
            <a:avLst>
              <a:gd name="adj" fmla="val 49999"/>
            </a:avLst>
          </a:prstGeom>
          <a:solidFill>
            <a:srgbClr val="6296FF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9" name="תמונה 18">
            <a:extLst>
              <a:ext uri="{FF2B5EF4-FFF2-40B4-BE49-F238E27FC236}">
                <a16:creationId xmlns:a16="http://schemas.microsoft.com/office/drawing/2014/main" id="{1E672313-F8FD-99FF-A787-C6B00563026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309" r="25139"/>
          <a:stretch>
            <a:fillRect/>
          </a:stretch>
        </p:blipFill>
        <p:spPr>
          <a:xfrm>
            <a:off x="10978752" y="86419"/>
            <a:ext cx="1102936" cy="1227236"/>
          </a:xfrm>
          <a:prstGeom prst="rect">
            <a:avLst/>
          </a:prstGeom>
        </p:spPr>
      </p:pic>
      <p:sp>
        <p:nvSpPr>
          <p:cNvPr id="21" name="מלבן 20">
            <a:extLst>
              <a:ext uri="{FF2B5EF4-FFF2-40B4-BE49-F238E27FC236}">
                <a16:creationId xmlns:a16="http://schemas.microsoft.com/office/drawing/2014/main" id="{1ACBE3EE-E370-E19E-4CB8-D56FDAF0F05D}"/>
              </a:ext>
            </a:extLst>
          </p:cNvPr>
          <p:cNvSpPr/>
          <p:nvPr/>
        </p:nvSpPr>
        <p:spPr>
          <a:xfrm>
            <a:off x="11019934" y="6504495"/>
            <a:ext cx="1102936" cy="307082"/>
          </a:xfrm>
          <a:prstGeom prst="rect">
            <a:avLst/>
          </a:prstGeom>
          <a:solidFill>
            <a:srgbClr val="10162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pic>
        <p:nvPicPr>
          <p:cNvPr id="27" name="תמונה 26">
            <a:extLst>
              <a:ext uri="{FF2B5EF4-FFF2-40B4-BE49-F238E27FC236}">
                <a16:creationId xmlns:a16="http://schemas.microsoft.com/office/drawing/2014/main" id="{3E621BCB-E359-8B86-6678-A1E7B07F65C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1627" t="28552" r="74209" b="28350"/>
          <a:stretch>
            <a:fillRect/>
          </a:stretch>
        </p:blipFill>
        <p:spPr>
          <a:xfrm>
            <a:off x="10793980" y="1485899"/>
            <a:ext cx="593505" cy="621953"/>
          </a:xfrm>
          <a:prstGeom prst="rect">
            <a:avLst/>
          </a:prstGeom>
        </p:spPr>
      </p:pic>
      <p:pic>
        <p:nvPicPr>
          <p:cNvPr id="29" name="תמונה 28">
            <a:extLst>
              <a:ext uri="{FF2B5EF4-FFF2-40B4-BE49-F238E27FC236}">
                <a16:creationId xmlns:a16="http://schemas.microsoft.com/office/drawing/2014/main" id="{4FD5DAE2-D569-2FF4-C8B5-74F033DF3AA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964" t="26422" r="50278" b="28868"/>
          <a:stretch>
            <a:fillRect/>
          </a:stretch>
        </p:blipFill>
        <p:spPr>
          <a:xfrm>
            <a:off x="10816420" y="2593470"/>
            <a:ext cx="614661" cy="711258"/>
          </a:xfrm>
          <a:prstGeom prst="rect">
            <a:avLst/>
          </a:prstGeom>
        </p:spPr>
      </p:pic>
      <p:pic>
        <p:nvPicPr>
          <p:cNvPr id="31" name="תמונה 30">
            <a:extLst>
              <a:ext uri="{FF2B5EF4-FFF2-40B4-BE49-F238E27FC236}">
                <a16:creationId xmlns:a16="http://schemas.microsoft.com/office/drawing/2014/main" id="{6252AAC7-DC9E-A9EC-59EE-13825A63D63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8047" t="28665" r="24621" b="26115"/>
          <a:stretch>
            <a:fillRect/>
          </a:stretch>
        </p:blipFill>
        <p:spPr>
          <a:xfrm>
            <a:off x="10863755" y="3711735"/>
            <a:ext cx="601410" cy="663332"/>
          </a:xfrm>
          <a:prstGeom prst="rect">
            <a:avLst/>
          </a:prstGeom>
        </p:spPr>
      </p:pic>
      <p:pic>
        <p:nvPicPr>
          <p:cNvPr id="33" name="תמונה 32">
            <a:extLst>
              <a:ext uri="{FF2B5EF4-FFF2-40B4-BE49-F238E27FC236}">
                <a16:creationId xmlns:a16="http://schemas.microsoft.com/office/drawing/2014/main" id="{7052DF92-FAA1-B1AE-3AA6-42A8FDB045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5950" y="4772714"/>
            <a:ext cx="1210982" cy="80732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9FB90-571E-CDDD-5941-71F4598FD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תמונה 23">
            <a:extLst>
              <a:ext uri="{FF2B5EF4-FFF2-40B4-BE49-F238E27FC236}">
                <a16:creationId xmlns:a16="http://schemas.microsoft.com/office/drawing/2014/main" id="{77E3E8D4-5E0E-7BD5-60AE-34EC3F76A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5522" cy="6858000"/>
          </a:xfrm>
          <a:prstGeom prst="rect">
            <a:avLst/>
          </a:prstGeom>
        </p:spPr>
      </p:pic>
      <p:pic>
        <p:nvPicPr>
          <p:cNvPr id="19" name="תמונה 18">
            <a:extLst>
              <a:ext uri="{FF2B5EF4-FFF2-40B4-BE49-F238E27FC236}">
                <a16:creationId xmlns:a16="http://schemas.microsoft.com/office/drawing/2014/main" id="{9449F8D1-9A4C-B31E-F747-E3DA267DB7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309" r="25139"/>
          <a:stretch>
            <a:fillRect/>
          </a:stretch>
        </p:blipFill>
        <p:spPr>
          <a:xfrm>
            <a:off x="10978752" y="86419"/>
            <a:ext cx="1102936" cy="1227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5697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6A7BA-06ED-855F-A3F8-B5CED50C8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מלבן 12">
            <a:extLst>
              <a:ext uri="{FF2B5EF4-FFF2-40B4-BE49-F238E27FC236}">
                <a16:creationId xmlns:a16="http://schemas.microsoft.com/office/drawing/2014/main" id="{CB86165F-46CD-6E2C-D130-53B5DB4C29FD}"/>
              </a:ext>
            </a:extLst>
          </p:cNvPr>
          <p:cNvSpPr/>
          <p:nvPr/>
        </p:nvSpPr>
        <p:spPr>
          <a:xfrm>
            <a:off x="11019934" y="6504495"/>
            <a:ext cx="1102936" cy="307082"/>
          </a:xfrm>
          <a:prstGeom prst="rect">
            <a:avLst/>
          </a:prstGeom>
          <a:solidFill>
            <a:srgbClr val="10162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pic>
        <p:nvPicPr>
          <p:cNvPr id="6" name="תמונה 5">
            <a:extLst>
              <a:ext uri="{FF2B5EF4-FFF2-40B4-BE49-F238E27FC236}">
                <a16:creationId xmlns:a16="http://schemas.microsoft.com/office/drawing/2014/main" id="{2E860EA9-EEF2-0FBE-A8A6-6588D802BE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pic>
        <p:nvPicPr>
          <p:cNvPr id="15" name="תמונה 14">
            <a:extLst>
              <a:ext uri="{FF2B5EF4-FFF2-40B4-BE49-F238E27FC236}">
                <a16:creationId xmlns:a16="http://schemas.microsoft.com/office/drawing/2014/main" id="{1256490F-6935-ADE1-30C6-0BFAD0C4D5B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309" r="25139"/>
          <a:stretch>
            <a:fillRect/>
          </a:stretch>
        </p:blipFill>
        <p:spPr>
          <a:xfrm>
            <a:off x="10152134" y="-37006"/>
            <a:ext cx="1970736" cy="2192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6483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833</TotalTime>
  <Words>443</Words>
  <Application>Microsoft Office PowerPoint</Application>
  <PresentationFormat>מסך רחב</PresentationFormat>
  <Paragraphs>94</Paragraphs>
  <Slides>11</Slides>
  <Notes>11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4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11</vt:i4>
      </vt:variant>
    </vt:vector>
  </HeadingPairs>
  <TitlesOfParts>
    <vt:vector size="16" baseType="lpstr">
      <vt:lpstr>Geist</vt:lpstr>
      <vt:lpstr>Geist Light</vt:lpstr>
      <vt:lpstr>Arial</vt:lpstr>
      <vt:lpstr>Geist Bold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לינוי קסוקר</dc:creator>
  <cp:lastModifiedBy>Linoy Kasuker</cp:lastModifiedBy>
  <cp:revision>4</cp:revision>
  <dcterms:created xsi:type="dcterms:W3CDTF">2026-08-24T10:09:57Z</dcterms:created>
  <dcterms:modified xsi:type="dcterms:W3CDTF">2026-08-31T18:34:00Z</dcterms:modified>
</cp:coreProperties>
</file>