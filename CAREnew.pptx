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embeddedFontLst>
    <p:embeddedFont>
      <p:font typeface="Geist" panose="020B0604020202020204" charset="0"/>
      <p:regular r:id="rId13"/>
    </p:embeddedFont>
    <p:embeddedFont>
      <p:font typeface="Geist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FFF"/>
    <a:srgbClr val="10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20" autoAdjust="0"/>
  </p:normalViewPr>
  <p:slideViewPr>
    <p:cSldViewPr snapToGrid="0" snapToObjects="1">
      <p:cViewPr>
        <p:scale>
          <a:sx n="58" d="100"/>
          <a:sy n="58" d="100"/>
        </p:scale>
        <p:origin x="58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25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4B65-EA69-7A46-7BDA-C2FF9696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012F0-945D-E095-5762-F1410E295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A2285-8C57-915A-1FBE-F5B3757ED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5FED2-85AB-CB51-DE20-925EE5709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37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114091" y="1631735"/>
            <a:ext cx="6296860" cy="1061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C.A.R.E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5233360" y="2732167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800" b="1" kern="0" spc="-37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 Alert &amp; Reminder Eye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33360" y="3235132"/>
            <a:ext cx="6296860" cy="82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20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extra eye watching the back seat for you.</a:t>
            </a:r>
            <a:endParaRPr lang="en-US" sz="2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Linoy Kasuker &amp; Almog Gabay</a:t>
            </a:r>
            <a:endParaRPr lang="en-US" sz="2000" dirty="0"/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F355F518-C98B-1A8A-69F2-DF8F4FE2F9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16" name="מלבן 15">
            <a:extLst>
              <a:ext uri="{FF2B5EF4-FFF2-40B4-BE49-F238E27FC236}">
                <a16:creationId xmlns:a16="http://schemas.microsoft.com/office/drawing/2014/main" id="{996680B1-2797-95E8-713A-42D12EBDE58D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2369"/>
            <a:ext cx="1086874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100" b="1" kern="0" spc="-103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THIS HAPPENED THIS MONTH.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356682" y="2179893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8000"/>
              </a:lnSpc>
            </a:pP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Two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incidents</a:t>
            </a:r>
            <a:r>
              <a:rPr lang="he-IL" sz="11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.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Two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weeks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.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One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preventable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danger</a:t>
            </a:r>
            <a:r>
              <a:rPr lang="he-IL" sz="1600" b="1" dirty="0">
                <a:solidFill>
                  <a:schemeClr val="bg1"/>
                </a:solidFill>
              </a:rPr>
              <a:t>.</a:t>
            </a:r>
            <a:endParaRPr lang="he-IL" sz="16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856408"/>
            <a:ext cx="5476043" cy="2961587"/>
          </a:xfrm>
          <a:prstGeom prst="roundRect">
            <a:avLst>
              <a:gd name="adj" fmla="val 7098"/>
            </a:avLst>
          </a:prstGeom>
          <a:solidFill>
            <a:srgbClr val="06182C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14357" y="3069034"/>
            <a:ext cx="1385853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827761" y="3125688"/>
            <a:ext cx="17686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AUGUST 9,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32776" y="3069034"/>
            <a:ext cx="1446276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446180" y="3125688"/>
            <a:ext cx="18290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AUGUST 21, 2026</a:t>
            </a:r>
            <a:endParaRPr lang="en-US" sz="1150" dirty="0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4C6975F9-91F4-9870-9990-A68B2E42CA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19" name="מלבן 18">
            <a:extLst>
              <a:ext uri="{FF2B5EF4-FFF2-40B4-BE49-F238E27FC236}">
                <a16:creationId xmlns:a16="http://schemas.microsoft.com/office/drawing/2014/main" id="{B3DA0290-D38E-2656-695A-BF400782FE00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1040023-A6DE-8F68-74E5-E85FECA7E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614" y="3059329"/>
            <a:ext cx="3622983" cy="2536676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E2CBE856-A84D-47FD-4208-BD59E064A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939" y="3501828"/>
            <a:ext cx="4930745" cy="1873949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8FC2DFA8-5AD7-8DC8-43EC-F93CCEB3261F}"/>
              </a:ext>
            </a:extLst>
          </p:cNvPr>
          <p:cNvSpPr/>
          <p:nvPr/>
        </p:nvSpPr>
        <p:spPr>
          <a:xfrm>
            <a:off x="97432" y="6006733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8000"/>
              </a:lnSpc>
            </a:pP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This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is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>
                <a:solidFill>
                  <a:srgbClr val="38AFFF"/>
                </a:solidFill>
                <a:latin typeface="Geist" pitchFamily="34" charset="0"/>
                <a:ea typeface="Geist" pitchFamily="34" charset="-122"/>
              </a:rPr>
              <a:t>NOT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a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problem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from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the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 </a:t>
            </a:r>
            <a:r>
              <a:rPr lang="he-IL" sz="16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past</a:t>
            </a:r>
            <a:r>
              <a:rPr lang="he-IL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</a:rPr>
              <a:t>.</a:t>
            </a:r>
            <a:endParaRPr lang="en-US" sz="1600" dirty="0">
              <a:solidFill>
                <a:schemeClr val="bg1"/>
              </a:solidFill>
              <a:latin typeface="Geist" pitchFamily="34" charset="0"/>
              <a:ea typeface="Geist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836216"/>
            <a:ext cx="629686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100" b="1" kern="0" spc="-103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MINUTES MATTER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661475" y="1967409"/>
            <a:ext cx="3053877" cy="2424013"/>
          </a:xfrm>
          <a:prstGeom prst="roundRect">
            <a:avLst>
              <a:gd name="adj" fmla="val 32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2"/>
          <p:cNvSpPr/>
          <p:nvPr/>
        </p:nvSpPr>
        <p:spPr>
          <a:xfrm>
            <a:off x="869531" y="2175470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RISING HEAT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9531" y="2595959"/>
            <a:ext cx="2637764" cy="1341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+11°C IN JUST 10 MINUTES</a:t>
            </a:r>
          </a:p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Vehicle temperatures can rise dangerously fast.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967409"/>
            <a:ext cx="3053976" cy="2424013"/>
          </a:xfrm>
          <a:prstGeom prst="roundRect">
            <a:avLst>
              <a:gd name="adj" fmla="val 32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4112415" y="2175470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VULNERABLE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2415" y="2595959"/>
            <a:ext cx="2637863" cy="1587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  <a:spcAft>
                <a:spcPts val="850"/>
              </a:spcAft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FASTER × 5-3</a:t>
            </a:r>
          </a:p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child's body heats up faster than an adult's.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80434"/>
            <a:ext cx="6296860" cy="1030657"/>
          </a:xfrm>
          <a:prstGeom prst="roundRect">
            <a:avLst>
              <a:gd name="adj" fmla="val 550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869531" y="4788495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SILENT DANGER 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9531" y="5208984"/>
            <a:ext cx="5880747" cy="604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sleeping child may be difficult to notice.</a:t>
            </a:r>
            <a:endParaRPr lang="he-IL" sz="1450" b="1" dirty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0BA49074-C047-6D96-876D-A33158262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46245871-7F41-064B-980C-A8CA3569AD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49" t="5609" r="62635" b="48133"/>
          <a:stretch>
            <a:fillRect/>
          </a:stretch>
        </p:blipFill>
        <p:spPr>
          <a:xfrm>
            <a:off x="2293696" y="2063690"/>
            <a:ext cx="573310" cy="532269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8C484869-DF6A-DC62-CC41-DF15E6A261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624" t="2559" r="35160" b="51183"/>
          <a:stretch>
            <a:fillRect/>
          </a:stretch>
        </p:blipFill>
        <p:spPr>
          <a:xfrm>
            <a:off x="5664006" y="2063690"/>
            <a:ext cx="573310" cy="532269"/>
          </a:xfrm>
          <a:prstGeom prst="rect">
            <a:avLst/>
          </a:prstGeom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78B6A3DB-17F7-0BD9-FB4D-27F0EAED0C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784" t="5145" b="48597"/>
          <a:stretch>
            <a:fillRect/>
          </a:stretch>
        </p:blipFill>
        <p:spPr>
          <a:xfrm>
            <a:off x="2805930" y="4676715"/>
            <a:ext cx="573310" cy="532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242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SOLUTION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552972"/>
            <a:ext cx="10868745" cy="1228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400" b="1" kern="0" spc="-14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MEET C.A.R.E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61475" y="2988072"/>
            <a:ext cx="1111142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autonomous safety system that scans the vehicle after shutdown and alerts the driver when a possible presence is detected.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769023"/>
            <a:ext cx="10868745" cy="2126456"/>
          </a:xfrm>
          <a:prstGeom prst="roundRect">
            <a:avLst>
              <a:gd name="adj" fmla="val 373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680524" y="3788073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66156" y="0"/>
                </a:moveTo>
                <a:lnTo>
                  <a:pt x="5415323" y="0"/>
                </a:lnTo>
                <a:lnTo>
                  <a:pt x="5415323" y="1044178"/>
                </a:lnTo>
                <a:lnTo>
                  <a:pt x="0" y="104417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357892" y="3977084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357892" y="4397573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Activates automatically after vehicle shutdown.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3788073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349167" y="0"/>
                </a:lnTo>
                <a:arcTo wR="66156" hR="66158" stAng="16200000" swAng="5400000"/>
                <a:lnTo>
                  <a:pt x="5415323" y="1044178"/>
                </a:lnTo>
                <a:lnTo>
                  <a:pt x="0" y="104417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6095848" y="3788073"/>
            <a:ext cx="25399" cy="1044178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827395" y="3977084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STANDALONE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827395" y="4397573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Works independently of the vehicle's built-in systems.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0524" y="4832251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415323" y="0"/>
                </a:lnTo>
                <a:lnTo>
                  <a:pt x="5415323" y="1044178"/>
                </a:lnTo>
                <a:lnTo>
                  <a:pt x="66156" y="104417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680524" y="4832251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357892" y="5021263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ALERT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357892" y="5441752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Alerts the driver when a possible presence is detected.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95848" y="4832251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415323" y="0"/>
                </a:lnTo>
                <a:lnTo>
                  <a:pt x="5415323" y="978020"/>
                </a:lnTo>
                <a:arcTo wR="66156" hR="66158" stAng="0" swAng="5400000"/>
                <a:lnTo>
                  <a:pt x="0" y="104417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6095848" y="4832251"/>
            <a:ext cx="25399" cy="1044178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6095848" y="4832251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827395" y="5021263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DRIVER ACTION REQUIRED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827395" y="5441752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C.A.R.E runs without requiring the driver to activate it.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754" y="4073922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1"/>
          <p:cNvSpPr/>
          <p:nvPr/>
        </p:nvSpPr>
        <p:spPr>
          <a:xfrm>
            <a:off x="6217754" y="5118100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0F231507-0889-6BA4-6C11-7EF9FE9BC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29" name="מלבן 28">
            <a:extLst>
              <a:ext uri="{FF2B5EF4-FFF2-40B4-BE49-F238E27FC236}">
                <a16:creationId xmlns:a16="http://schemas.microsoft.com/office/drawing/2014/main" id="{2C97AA89-A216-388E-9185-A6469E4F14B9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C856AED3-41D7-FF68-7A60-4063C6BB1C87}"/>
              </a:ext>
            </a:extLst>
          </p:cNvPr>
          <p:cNvSpPr/>
          <p:nvPr/>
        </p:nvSpPr>
        <p:spPr>
          <a:xfrm>
            <a:off x="808393" y="4064466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38D7832F-953D-EF9D-56DF-22B76039F9ED}"/>
              </a:ext>
            </a:extLst>
          </p:cNvPr>
          <p:cNvSpPr/>
          <p:nvPr/>
        </p:nvSpPr>
        <p:spPr>
          <a:xfrm>
            <a:off x="786602" y="5118100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37" name="תמונה 36">
            <a:extLst>
              <a:ext uri="{FF2B5EF4-FFF2-40B4-BE49-F238E27FC236}">
                <a16:creationId xmlns:a16="http://schemas.microsoft.com/office/drawing/2014/main" id="{9D57BD40-D7D0-6429-92B7-24E9CAAF6B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99" t="4129" r="55964" b="48568"/>
          <a:stretch>
            <a:fillRect/>
          </a:stretch>
        </p:blipFill>
        <p:spPr>
          <a:xfrm>
            <a:off x="759566" y="4083516"/>
            <a:ext cx="505715" cy="484195"/>
          </a:xfrm>
          <a:prstGeom prst="rect">
            <a:avLst/>
          </a:prstGeom>
        </p:spPr>
      </p:pic>
      <p:pic>
        <p:nvPicPr>
          <p:cNvPr id="41" name="תמונה 40">
            <a:extLst>
              <a:ext uri="{FF2B5EF4-FFF2-40B4-BE49-F238E27FC236}">
                <a16:creationId xmlns:a16="http://schemas.microsoft.com/office/drawing/2014/main" id="{C4F35974-0CC8-A5C4-4E9B-4BC2E8AA86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79" t="53785" r="54618" b="9432"/>
          <a:stretch>
            <a:fillRect/>
          </a:stretch>
        </p:blipFill>
        <p:spPr>
          <a:xfrm>
            <a:off x="773420" y="5184475"/>
            <a:ext cx="482943" cy="336412"/>
          </a:xfrm>
          <a:prstGeom prst="rect">
            <a:avLst/>
          </a:prstGeom>
        </p:spPr>
      </p:pic>
      <p:pic>
        <p:nvPicPr>
          <p:cNvPr id="43" name="תמונה 42">
            <a:extLst>
              <a:ext uri="{FF2B5EF4-FFF2-40B4-BE49-F238E27FC236}">
                <a16:creationId xmlns:a16="http://schemas.microsoft.com/office/drawing/2014/main" id="{CE58A7F9-7F98-4900-846A-32F07EBB61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41" t="4600" r="8547" b="49274"/>
          <a:stretch>
            <a:fillRect/>
          </a:stretch>
        </p:blipFill>
        <p:spPr>
          <a:xfrm>
            <a:off x="6217754" y="4116144"/>
            <a:ext cx="503627" cy="388037"/>
          </a:xfrm>
          <a:prstGeom prst="rect">
            <a:avLst/>
          </a:prstGeom>
        </p:spPr>
      </p:pic>
      <p:pic>
        <p:nvPicPr>
          <p:cNvPr id="45" name="תמונה 44">
            <a:extLst>
              <a:ext uri="{FF2B5EF4-FFF2-40B4-BE49-F238E27FC236}">
                <a16:creationId xmlns:a16="http://schemas.microsoft.com/office/drawing/2014/main" id="{516320E7-F0D1-F649-90B5-46F08FB86E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606" t="51879" r="11681" b="6674"/>
          <a:stretch>
            <a:fillRect/>
          </a:stretch>
        </p:blipFill>
        <p:spPr>
          <a:xfrm>
            <a:off x="6236802" y="5160321"/>
            <a:ext cx="472468" cy="412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475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FLOW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00816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C.A.R.E WORKS</a:t>
            </a:r>
            <a:endParaRPr lang="en-US" sz="3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905893"/>
            <a:ext cx="8452035" cy="3868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41606" y="4849511"/>
            <a:ext cx="1586817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ALERT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41783" y="4849511"/>
            <a:ext cx="1586817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352827" y="4849511"/>
            <a:ext cx="1586817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320397" y="4849511"/>
            <a:ext cx="1586817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 OFF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56682" y="5986859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entire process runs automatically after vehicle shutdown - no driver activation required.</a:t>
            </a:r>
            <a:endParaRPr lang="en-US" sz="145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82F33168-07B0-A944-52CD-7E83E087189C}"/>
              </a:ext>
            </a:extLst>
          </p:cNvPr>
          <p:cNvSpPr txBox="1"/>
          <p:nvPr/>
        </p:nvSpPr>
        <p:spPr>
          <a:xfrm>
            <a:off x="8330739" y="5168465"/>
            <a:ext cx="1860061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indent="0" algn="ctr">
              <a:lnSpc>
                <a:spcPct val="108000"/>
              </a:lnSpc>
              <a:buNone/>
              <a:defRPr sz="145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r>
              <a:rPr lang="en-US" dirty="0"/>
              <a:t>Driver is notified</a:t>
            </a:r>
            <a:endParaRPr lang="he-IL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08CCAD6-869F-6046-D34D-1F130C8AC4E0}"/>
              </a:ext>
            </a:extLst>
          </p:cNvPr>
          <p:cNvSpPr txBox="1"/>
          <p:nvPr/>
        </p:nvSpPr>
        <p:spPr>
          <a:xfrm>
            <a:off x="2183774" y="5168465"/>
            <a:ext cx="1860061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indent="0" algn="ctr">
              <a:lnSpc>
                <a:spcPct val="108000"/>
              </a:lnSpc>
              <a:buNone/>
              <a:defRPr sz="145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r>
              <a:rPr lang="en-US" dirty="0"/>
              <a:t>Vehicle shuts down</a:t>
            </a:r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1675645B-945A-8499-F41E-0D4672F88BA8}"/>
              </a:ext>
            </a:extLst>
          </p:cNvPr>
          <p:cNvSpPr txBox="1"/>
          <p:nvPr/>
        </p:nvSpPr>
        <p:spPr>
          <a:xfrm>
            <a:off x="6205160" y="5168465"/>
            <a:ext cx="1860061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indent="0" algn="ctr">
              <a:lnSpc>
                <a:spcPct val="108000"/>
              </a:lnSpc>
              <a:buNone/>
              <a:defRPr sz="145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r>
              <a:rPr lang="en-US" dirty="0"/>
              <a:t>Either source detects</a:t>
            </a:r>
            <a:endParaRPr lang="he-IL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1EBAA170-6C05-D03C-7809-06B3FFD5074F}"/>
              </a:ext>
            </a:extLst>
          </p:cNvPr>
          <p:cNvSpPr txBox="1"/>
          <p:nvPr/>
        </p:nvSpPr>
        <p:spPr>
          <a:xfrm>
            <a:off x="4216204" y="5168465"/>
            <a:ext cx="1860061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indent="0" algn="ctr">
              <a:lnSpc>
                <a:spcPct val="108000"/>
              </a:lnSpc>
              <a:buNone/>
              <a:defRPr sz="145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r>
              <a:rPr lang="en-US" dirty="0"/>
              <a:t>PIR + Camera</a:t>
            </a:r>
            <a:endParaRPr lang="he-IL" dirty="0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93D00C33-A3F0-41EF-CDDA-AB4A16CD76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21" name="מלבן 20">
            <a:extLst>
              <a:ext uri="{FF2B5EF4-FFF2-40B4-BE49-F238E27FC236}">
                <a16:creationId xmlns:a16="http://schemas.microsoft.com/office/drawing/2014/main" id="{FA4EB967-356F-AE1A-CF91-DA4B563AE7F8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DETECTION LOGIC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843359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TWO DETECTION SOURCES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298149" y="2505075"/>
            <a:ext cx="5238421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Either source can trigger the alert.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298149" y="2954834"/>
            <a:ext cx="5848005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two detection inputs operate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independently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149" y="3301504"/>
            <a:ext cx="2550949" cy="1404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54028" y="3481189"/>
            <a:ext cx="211539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PIR Motion Sensor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554028" y="4030861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physical motion inside the vehicle.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621" y="3301504"/>
            <a:ext cx="2550949" cy="1404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41498" y="3481189"/>
            <a:ext cx="2115391" cy="522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Camera + Image Analysis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241498" y="4068669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body or face presence visually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98149" y="4859238"/>
            <a:ext cx="5238421" cy="518914"/>
          </a:xfrm>
          <a:prstGeom prst="roundRect">
            <a:avLst>
              <a:gd name="adj" fmla="val 13004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1" y="5047655"/>
            <a:ext cx="200814" cy="160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0225" y="5022155"/>
            <a:ext cx="51652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 logic — not AND.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One trigger is all it takes.</a:t>
            </a:r>
            <a:endParaRPr lang="en-US" sz="1250" dirty="0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658F1432-4F57-0FCC-B887-5650FCAFD4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19" name="מלבן 18">
            <a:extLst>
              <a:ext uri="{FF2B5EF4-FFF2-40B4-BE49-F238E27FC236}">
                <a16:creationId xmlns:a16="http://schemas.microsoft.com/office/drawing/2014/main" id="{F5C577E2-E30E-A2C7-8521-72586AA6C971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90210543-53AB-5DB5-8A6B-5C8699B09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477" y="2124008"/>
            <a:ext cx="5835950" cy="3890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511"/>
            <a:ext cx="1086874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1475" y="953988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SYSTEM WE BUILT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52014" y="1178971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52014" y="1381079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6252014" y="1467896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Raspberry Pi 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52014" y="1747296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 processing unit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52014" y="2050806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2014" y="2240611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6252014" y="2339731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Camera Module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52014" y="2619131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Captures images for visual analysis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2014" y="2922641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52014" y="3100242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6252014" y="3211566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PIR Motion Sensor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52014" y="3490966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independent motion detection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52014" y="3794476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52014" y="3959774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6252014" y="4083401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 CONNECTIVITY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52014" y="4362801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Uses known Wi-Fi when available; otherwise switches to the cellular network.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52014" y="4666311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52014" y="4819406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6252014" y="4955236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Cooling Fan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52014" y="5234636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Keeps the system cool during operation</a:t>
            </a:r>
            <a:endParaRPr lang="en-US" sz="950" dirty="0"/>
          </a:p>
        </p:txBody>
      </p: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8AEB38CC-88C0-D25A-9EBA-E2630F89E6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31" name="Text 18">
            <a:extLst>
              <a:ext uri="{FF2B5EF4-FFF2-40B4-BE49-F238E27FC236}">
                <a16:creationId xmlns:a16="http://schemas.microsoft.com/office/drawing/2014/main" id="{91CA8828-86CF-CD72-B983-E5D2F810D8A3}"/>
              </a:ext>
            </a:extLst>
          </p:cNvPr>
          <p:cNvSpPr/>
          <p:nvPr/>
        </p:nvSpPr>
        <p:spPr>
          <a:xfrm>
            <a:off x="6252014" y="5545698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19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06</a:t>
            </a:r>
            <a:endParaRPr lang="en-US" sz="950" dirty="0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92728F26-55DE-7DDA-B78D-4F6021B62A6C}"/>
              </a:ext>
            </a:extLst>
          </p:cNvPr>
          <p:cNvSpPr/>
          <p:nvPr/>
        </p:nvSpPr>
        <p:spPr>
          <a:xfrm>
            <a:off x="6252014" y="5698793"/>
            <a:ext cx="5284556" cy="127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C102C372-4DCC-367E-BEDE-21798EE332E1}"/>
              </a:ext>
            </a:extLst>
          </p:cNvPr>
          <p:cNvSpPr/>
          <p:nvPr/>
        </p:nvSpPr>
        <p:spPr>
          <a:xfrm>
            <a:off x="6252014" y="5834623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Backup Power System</a:t>
            </a:r>
            <a:endParaRPr lang="en-US" sz="12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73C3789D-5FBB-2B79-00C7-DC3FDDE9720B}"/>
              </a:ext>
            </a:extLst>
          </p:cNvPr>
          <p:cNvSpPr/>
          <p:nvPr/>
        </p:nvSpPr>
        <p:spPr>
          <a:xfrm>
            <a:off x="6252014" y="6114023"/>
            <a:ext cx="52845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Recharges while driving and powers C.A.R.E after vehicle shutdown.</a:t>
            </a:r>
            <a:endParaRPr lang="en-US" sz="950" dirty="0"/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EF9B5BB3-BA22-8AFC-2F80-C637DED53FA0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45" name="תמונה 44">
            <a:extLst>
              <a:ext uri="{FF2B5EF4-FFF2-40B4-BE49-F238E27FC236}">
                <a16:creationId xmlns:a16="http://schemas.microsoft.com/office/drawing/2014/main" id="{DC0F641B-0685-08AD-B673-A9A1F03E5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05" y="1920131"/>
            <a:ext cx="5644550" cy="3763033"/>
          </a:xfrm>
          <a:prstGeom prst="rect">
            <a:avLst/>
          </a:prstGeom>
        </p:spPr>
      </p:pic>
      <p:pic>
        <p:nvPicPr>
          <p:cNvPr id="47" name="תמונה 46">
            <a:extLst>
              <a:ext uri="{FF2B5EF4-FFF2-40B4-BE49-F238E27FC236}">
                <a16:creationId xmlns:a16="http://schemas.microsoft.com/office/drawing/2014/main" id="{67DE096E-1AEE-3BDF-5E48-16E7AD66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808" y="614585"/>
            <a:ext cx="1674647" cy="9492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809"/>
            <a:ext cx="10868745" cy="26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952798"/>
            <a:ext cx="10868745" cy="52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DETECTION TO ALERT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356682" y="6028333"/>
            <a:ext cx="11478330" cy="19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detection to driver alert — automatically.</a:t>
            </a:r>
            <a:endParaRPr lang="en-US" sz="1500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C7D889F7-1E0C-F38E-A9D1-5B751F916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361333FE-5557-25EB-F891-0D5C6742EE23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4631228D-7BE8-7660-0824-455534266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1315"/>
            <a:ext cx="12192000" cy="3995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תמונה 34">
            <a:extLst>
              <a:ext uri="{FF2B5EF4-FFF2-40B4-BE49-F238E27FC236}">
                <a16:creationId xmlns:a16="http://schemas.microsoft.com/office/drawing/2014/main" id="{78C8602D-BE94-7E6C-3B98-9D53978E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" y="6837"/>
            <a:ext cx="7110032" cy="64976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27209"/>
            <a:ext cx="6296860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kern="0" spc="-6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</a:t>
            </a:r>
            <a:r>
              <a:rPr lang="en-US" sz="4000" b="1" kern="0" spc="-67" dirty="0">
                <a:solidFill>
                  <a:srgbClr val="38A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C.A.R.E?</a:t>
            </a:r>
            <a:endParaRPr lang="en-US" sz="4000" dirty="0">
              <a:solidFill>
                <a:srgbClr val="38A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233360" y="1314252"/>
            <a:ext cx="6296860" cy="956469"/>
          </a:xfrm>
          <a:prstGeom prst="roundRect">
            <a:avLst>
              <a:gd name="adj" fmla="val 747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2"/>
          <p:cNvSpPr/>
          <p:nvPr/>
        </p:nvSpPr>
        <p:spPr>
          <a:xfrm>
            <a:off x="5407184" y="1503363"/>
            <a:ext cx="59186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AUTONOMOUS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422467" y="1831708"/>
            <a:ext cx="591864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Activates automatically after vehicle shutdown - no driver action </a:t>
            </a:r>
          </a:p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2423815"/>
            <a:ext cx="6296860" cy="956469"/>
          </a:xfrm>
          <a:prstGeom prst="roundRect">
            <a:avLst>
              <a:gd name="adj" fmla="val 747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4992794" y="2612926"/>
            <a:ext cx="59186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         DUAL DETECTION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22467" y="2941271"/>
            <a:ext cx="591864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PIR motion sensing and image analysis operate independently.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3533378"/>
            <a:ext cx="6296860" cy="956469"/>
          </a:xfrm>
          <a:prstGeom prst="roundRect">
            <a:avLst>
              <a:gd name="adj" fmla="val 747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5389939" y="3719712"/>
            <a:ext cx="59186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RELIABLE CONNECTIVITY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422467" y="4050835"/>
            <a:ext cx="591864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Uses known Wi-Fi when available, with 4G cellular fallback.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642941"/>
            <a:ext cx="6296860" cy="956469"/>
          </a:xfrm>
          <a:prstGeom prst="roundRect">
            <a:avLst>
              <a:gd name="adj" fmla="val 747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5422467" y="4832052"/>
            <a:ext cx="59186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UNIVERSAL DESIGN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22467" y="5160398"/>
            <a:ext cx="591864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Standalone — no integration with the vehicle’s built-in systems.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83653" y="5943898"/>
            <a:ext cx="6651359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 extra layer of protection, without changing driver behavior.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771654"/>
            <a:ext cx="19050" cy="554633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1E672313-F8FD-99FF-A787-C6B00563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09" r="25139"/>
          <a:stretch>
            <a:fillRect/>
          </a:stretch>
        </p:blipFill>
        <p:spPr>
          <a:xfrm>
            <a:off x="10978752" y="86419"/>
            <a:ext cx="1102936" cy="1227236"/>
          </a:xfrm>
          <a:prstGeom prst="rect">
            <a:avLst/>
          </a:prstGeom>
        </p:spPr>
      </p:pic>
      <p:sp>
        <p:nvSpPr>
          <p:cNvPr id="21" name="מלבן 20">
            <a:extLst>
              <a:ext uri="{FF2B5EF4-FFF2-40B4-BE49-F238E27FC236}">
                <a16:creationId xmlns:a16="http://schemas.microsoft.com/office/drawing/2014/main" id="{1ACBE3EE-E370-E19E-4CB8-D56FDAF0F05D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3E621BCB-E359-8B86-6678-A1E7B07F6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627" t="28552" r="74209" b="28350"/>
          <a:stretch>
            <a:fillRect/>
          </a:stretch>
        </p:blipFill>
        <p:spPr>
          <a:xfrm>
            <a:off x="10793980" y="1485899"/>
            <a:ext cx="593505" cy="621953"/>
          </a:xfrm>
          <a:prstGeom prst="rect">
            <a:avLst/>
          </a:prstGeom>
        </p:spPr>
      </p:pic>
      <p:pic>
        <p:nvPicPr>
          <p:cNvPr id="29" name="תמונה 28">
            <a:extLst>
              <a:ext uri="{FF2B5EF4-FFF2-40B4-BE49-F238E27FC236}">
                <a16:creationId xmlns:a16="http://schemas.microsoft.com/office/drawing/2014/main" id="{4FD5DAE2-D569-2FF4-C8B5-74F033DF3A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64" t="26422" r="50278" b="28868"/>
          <a:stretch>
            <a:fillRect/>
          </a:stretch>
        </p:blipFill>
        <p:spPr>
          <a:xfrm>
            <a:off x="10816420" y="2593470"/>
            <a:ext cx="614661" cy="711258"/>
          </a:xfrm>
          <a:prstGeom prst="rect">
            <a:avLst/>
          </a:prstGeom>
        </p:spPr>
      </p:pic>
      <p:pic>
        <p:nvPicPr>
          <p:cNvPr id="31" name="תמונה 30">
            <a:extLst>
              <a:ext uri="{FF2B5EF4-FFF2-40B4-BE49-F238E27FC236}">
                <a16:creationId xmlns:a16="http://schemas.microsoft.com/office/drawing/2014/main" id="{6252AAC7-DC9E-A9EC-59EE-13825A63D6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047" t="28665" r="24621" b="26115"/>
          <a:stretch>
            <a:fillRect/>
          </a:stretch>
        </p:blipFill>
        <p:spPr>
          <a:xfrm>
            <a:off x="10863755" y="3711735"/>
            <a:ext cx="601410" cy="663332"/>
          </a:xfrm>
          <a:prstGeom prst="rect">
            <a:avLst/>
          </a:prstGeom>
        </p:spPr>
      </p:pic>
      <p:pic>
        <p:nvPicPr>
          <p:cNvPr id="33" name="תמונה 32">
            <a:extLst>
              <a:ext uri="{FF2B5EF4-FFF2-40B4-BE49-F238E27FC236}">
                <a16:creationId xmlns:a16="http://schemas.microsoft.com/office/drawing/2014/main" id="{7052DF92-FAA1-B1AE-3AA6-42A8FDB04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950" y="4772714"/>
            <a:ext cx="1210982" cy="807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A7BA-06ED-855F-A3F8-B5CED50C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 12">
            <a:extLst>
              <a:ext uri="{FF2B5EF4-FFF2-40B4-BE49-F238E27FC236}">
                <a16:creationId xmlns:a16="http://schemas.microsoft.com/office/drawing/2014/main" id="{CB86165F-46CD-6E2C-D130-53B5DB4C29FD}"/>
              </a:ext>
            </a:extLst>
          </p:cNvPr>
          <p:cNvSpPr/>
          <p:nvPr/>
        </p:nvSpPr>
        <p:spPr>
          <a:xfrm>
            <a:off x="11019934" y="6504495"/>
            <a:ext cx="1102936" cy="307082"/>
          </a:xfrm>
          <a:prstGeom prst="rect">
            <a:avLst/>
          </a:prstGeom>
          <a:solidFill>
            <a:srgbClr val="1016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E860EA9-EEF2-0FBE-A8A6-6588D802B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1256490F-6935-ADE1-30C6-0BFAD0C4D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09" r="25139"/>
          <a:stretch>
            <a:fillRect/>
          </a:stretch>
        </p:blipFill>
        <p:spPr>
          <a:xfrm>
            <a:off x="10152134" y="-37006"/>
            <a:ext cx="1970736" cy="219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4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442</Words>
  <Application>Microsoft Office PowerPoint</Application>
  <PresentationFormat>מסך רחב</PresentationFormat>
  <Paragraphs>93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Geist</vt:lpstr>
      <vt:lpstr>Arial</vt:lpstr>
      <vt:lpstr>Geist Light</vt:lpstr>
      <vt:lpstr>Geist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לינוי קסוקר</dc:creator>
  <cp:lastModifiedBy>Linoy Kasuker</cp:lastModifiedBy>
  <cp:revision>2</cp:revision>
  <dcterms:created xsi:type="dcterms:W3CDTF">2026-08-24T10:09:57Z</dcterms:created>
  <dcterms:modified xsi:type="dcterms:W3CDTF">2026-08-24T14:47:21Z</dcterms:modified>
</cp:coreProperties>
</file>