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ADLaM Display" panose="02010000000000000000" pitchFamily="2" charset="0"/>
      <p:regular r:id="rId9"/>
    </p:embeddedFont>
    <p:embeddedFont>
      <p:font typeface="Geist" panose="020B0604020202020204" charset="0"/>
      <p:regular r:id="rId10"/>
    </p:embeddedFont>
  </p:embeddedFont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283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10162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774" y="384369"/>
            <a:ext cx="4072988" cy="4072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68698"/>
            <a:ext cx="3544119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400" b="1" dirty="0">
                <a:solidFill>
                  <a:srgbClr val="F2F5FA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C.A.R.E </a:t>
            </a:r>
            <a:endParaRPr lang="en-US" sz="4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1886099"/>
            <a:ext cx="4344144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Car Alert &amp; Reminder Eye</a:t>
            </a:r>
          </a:p>
        </p:txBody>
      </p:sp>
      <p:sp>
        <p:nvSpPr>
          <p:cNvPr id="6" name="Text 3"/>
          <p:cNvSpPr/>
          <p:nvPr/>
        </p:nvSpPr>
        <p:spPr>
          <a:xfrm>
            <a:off x="496119" y="2559397"/>
            <a:ext cx="47227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b="1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"An extra eye watching the back seat for you."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496119" y="2903116"/>
            <a:ext cx="47227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3246834"/>
            <a:ext cx="47227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6119" y="3590553"/>
            <a:ext cx="47227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Linoy Kasuker &amp; Almog Gabay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65237"/>
            <a:ext cx="4722763" cy="921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2750" b="1" dirty="0">
                <a:solidFill>
                  <a:srgbClr val="F2F5FA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Problem: Forgotten Baby Syndrome</a:t>
            </a:r>
          </a:p>
        </p:txBody>
      </p:sp>
      <p:sp>
        <p:nvSpPr>
          <p:cNvPr id="4" name="Text 1"/>
          <p:cNvSpPr/>
          <p:nvPr/>
        </p:nvSpPr>
        <p:spPr>
          <a:xfrm>
            <a:off x="496119" y="1599233"/>
            <a:ext cx="472276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year, children and pets are left behind in vehicles - not because of neglect, but because of stress, exhaustion, or an unexpected change in daily routine. The consequences can be fatal within minutes.</a:t>
            </a:r>
            <a:endParaRPr lang="en-US" sz="1100" b="1" dirty="0"/>
          </a:p>
        </p:txBody>
      </p:sp>
      <p:sp>
        <p:nvSpPr>
          <p:cNvPr id="5" name="Shape 2"/>
          <p:cNvSpPr/>
          <p:nvPr/>
        </p:nvSpPr>
        <p:spPr>
          <a:xfrm>
            <a:off x="394022" y="2311450"/>
            <a:ext cx="2392635" cy="2366814"/>
          </a:xfrm>
          <a:prstGeom prst="roundRect">
            <a:avLst>
              <a:gd name="adj" fmla="val 4313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535781" y="2453208"/>
            <a:ext cx="17720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F2F5F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Danger</a:t>
            </a:r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5781" y="2825279"/>
            <a:ext cx="2109118" cy="120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 interior heat rises rapidly once doors close</a:t>
            </a:r>
            <a:endParaRPr lang="en-US" sz="1100" b="1" dirty="0"/>
          </a:p>
          <a:p>
            <a:pPr marL="342900" indent="-342900" algn="l" rtl="0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cause dehydration and death within minutes.</a:t>
            </a:r>
            <a:endParaRPr lang="en-US" sz="1100" b="1" dirty="0"/>
          </a:p>
          <a:p>
            <a:pPr marL="342900" indent="-342900" algn="l" rtl="0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Sleeping children are nearly silent - easy to miss</a:t>
            </a:r>
            <a:endParaRPr lang="en-US" sz="1100" b="1" dirty="0"/>
          </a:p>
        </p:txBody>
      </p:sp>
      <p:sp>
        <p:nvSpPr>
          <p:cNvPr id="8" name="Text 5"/>
          <p:cNvSpPr/>
          <p:nvPr/>
        </p:nvSpPr>
        <p:spPr>
          <a:xfrm>
            <a:off x="535781" y="4157439"/>
            <a:ext cx="210911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35201" y="2453208"/>
            <a:ext cx="2188443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1800"/>
              </a:lnSpc>
              <a:buNone/>
            </a:pPr>
            <a:r>
              <a:rPr lang="en-US" b="1" dirty="0">
                <a:solidFill>
                  <a:srgbClr val="F2F5F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Existing Solutions Fall Short</a:t>
            </a:r>
          </a:p>
        </p:txBody>
      </p:sp>
      <p:sp>
        <p:nvSpPr>
          <p:cNvPr id="10" name="Text 7"/>
          <p:cNvSpPr/>
          <p:nvPr/>
        </p:nvSpPr>
        <p:spPr>
          <a:xfrm>
            <a:off x="3035201" y="3055590"/>
            <a:ext cx="2188443" cy="1573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Built-in systems only available in expensive new vehicles</a:t>
            </a:r>
          </a:p>
          <a:p>
            <a:pPr marL="342900" indent="-342900" algn="l" rtl="0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generic "Check Back Seat" alert even when the vehicle is empty, causing drivers to ignore them</a:t>
            </a:r>
          </a:p>
          <a:p>
            <a:pPr marL="342900" indent="-342900" algn="l" rtl="0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Complex installation or app dependency creates friction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40965"/>
            <a:ext cx="4027810" cy="33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Why This Matters: The Numbers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879946"/>
            <a:ext cx="3836640" cy="3836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18348" y="1481510"/>
            <a:ext cx="1301353" cy="169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13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Key Facts</a:t>
            </a:r>
          </a:p>
        </p:txBody>
      </p:sp>
      <p:sp>
        <p:nvSpPr>
          <p:cNvPr id="5" name="Shape 2"/>
          <p:cNvSpPr/>
          <p:nvPr/>
        </p:nvSpPr>
        <p:spPr>
          <a:xfrm>
            <a:off x="5075486" y="1769046"/>
            <a:ext cx="3092946" cy="717054"/>
          </a:xfrm>
          <a:prstGeom prst="roundRect">
            <a:avLst>
              <a:gd name="adj" fmla="val 9564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198" y="1769046"/>
            <a:ext cx="57150" cy="7170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6741" y="1887438"/>
            <a:ext cx="1547143" cy="169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Dozens of Deaths Yearly</a:t>
            </a:r>
            <a:endParaRPr lang="en-US" sz="1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36741" y="2133005"/>
            <a:ext cx="2813298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9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Children die worldwide each year from vehicular heatstroke - a preventable tragedy.</a:t>
            </a:r>
            <a:endParaRPr lang="en-US" sz="1050" b="1" dirty="0"/>
          </a:p>
        </p:txBody>
      </p:sp>
      <p:sp>
        <p:nvSpPr>
          <p:cNvPr id="9" name="Shape 5"/>
          <p:cNvSpPr/>
          <p:nvPr/>
        </p:nvSpPr>
        <p:spPr>
          <a:xfrm>
            <a:off x="5075486" y="2562523"/>
            <a:ext cx="3092946" cy="717054"/>
          </a:xfrm>
          <a:prstGeom prst="roundRect">
            <a:avLst>
              <a:gd name="adj" fmla="val 9564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198" y="2562523"/>
            <a:ext cx="57150" cy="7170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6741" y="2680915"/>
            <a:ext cx="1301353" cy="169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rtl="0">
              <a:lnSpc>
                <a:spcPts val="1300"/>
              </a:lnSpc>
            </a:pPr>
            <a:r>
              <a:rPr lang="en-US" sz="1400" b="1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+65°C in 10 Minutes</a:t>
            </a:r>
          </a:p>
        </p:txBody>
      </p:sp>
      <p:sp>
        <p:nvSpPr>
          <p:cNvPr id="12" name="Text 7"/>
          <p:cNvSpPr/>
          <p:nvPr/>
        </p:nvSpPr>
        <p:spPr>
          <a:xfrm>
            <a:off x="5236741" y="2926482"/>
            <a:ext cx="2813298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9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Temperature inside a closed car can spike by over 65°C in less than 10 minutes.</a:t>
            </a:r>
            <a:endParaRPr lang="en-US" sz="1050" b="1" dirty="0"/>
          </a:p>
        </p:txBody>
      </p:sp>
      <p:sp>
        <p:nvSpPr>
          <p:cNvPr id="13" name="Shape 8"/>
          <p:cNvSpPr/>
          <p:nvPr/>
        </p:nvSpPr>
        <p:spPr>
          <a:xfrm>
            <a:off x="5075486" y="3356000"/>
            <a:ext cx="3092946" cy="717054"/>
          </a:xfrm>
          <a:prstGeom prst="roundRect">
            <a:avLst>
              <a:gd name="adj" fmla="val 9564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198" y="3356000"/>
            <a:ext cx="57150" cy="7170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36741" y="3474393"/>
            <a:ext cx="1570955" cy="169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l" rtl="0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temperature rising </a:t>
            </a:r>
          </a:p>
        </p:txBody>
      </p:sp>
      <p:sp>
        <p:nvSpPr>
          <p:cNvPr id="16" name="Text 10"/>
          <p:cNvSpPr/>
          <p:nvPr/>
        </p:nvSpPr>
        <p:spPr>
          <a:xfrm>
            <a:off x="5236741" y="3719959"/>
            <a:ext cx="2813298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9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Body temperature rising above 40°C is defined as heatstroke and can be fatal.</a:t>
            </a:r>
            <a:endParaRPr lang="en-US" sz="10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69391"/>
            <a:ext cx="4803204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Stark Reality: News Reports</a:t>
            </a:r>
          </a:p>
        </p:txBody>
      </p:sp>
      <p:sp>
        <p:nvSpPr>
          <p:cNvPr id="7" name="Text 2"/>
          <p:cNvSpPr/>
          <p:nvPr/>
        </p:nvSpPr>
        <p:spPr>
          <a:xfrm>
            <a:off x="426393" y="4576018"/>
            <a:ext cx="1522884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150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20596AC7-1AB0-E21D-90E0-5C5009F07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944" y="1250521"/>
            <a:ext cx="3533539" cy="284025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BA20B0F7-96F2-78BC-609A-CBFD4DD1C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17" y="2463859"/>
            <a:ext cx="5064080" cy="1592051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62AA2568-F2DA-A616-E3D6-0CB20A5BA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17" y="1250521"/>
            <a:ext cx="5064080" cy="1023007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BCED25E6-B4CD-F73E-8A56-DB9E9ABDCB66}"/>
              </a:ext>
            </a:extLst>
          </p:cNvPr>
          <p:cNvSpPr txBox="1"/>
          <p:nvPr/>
        </p:nvSpPr>
        <p:spPr>
          <a:xfrm>
            <a:off x="5444944" y="3844550"/>
            <a:ext cx="3179298" cy="2462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1000" dirty="0"/>
              <a:t>From knesset.gov.il </a:t>
            </a:r>
            <a:endParaRPr lang="he-IL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60238"/>
            <a:ext cx="3211860" cy="417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100"/>
              </a:lnSpc>
            </a:pPr>
            <a:r>
              <a:rPr lang="en-US" sz="2750" b="1" dirty="0">
                <a:solidFill>
                  <a:srgbClr val="F2F5FA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How C.A.R.E Works</a:t>
            </a:r>
          </a:p>
        </p:txBody>
      </p:sp>
      <p:sp>
        <p:nvSpPr>
          <p:cNvPr id="3" name="Text 1"/>
          <p:cNvSpPr/>
          <p:nvPr/>
        </p:nvSpPr>
        <p:spPr>
          <a:xfrm>
            <a:off x="449610" y="1010543"/>
            <a:ext cx="8244780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smart, standalone automotive safety system designed to prevent fatalities and injuries resulting from children or pets being forgotten in closed vehicles.</a:t>
            </a:r>
            <a:endParaRPr lang="en-US" sz="14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790" y="1459855"/>
            <a:ext cx="4842421" cy="28740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8472" y="2162313"/>
            <a:ext cx="412235" cy="4122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21197" y="3662592"/>
            <a:ext cx="1203727" cy="24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b="1" dirty="0">
                <a:solidFill>
                  <a:srgbClr val="F2F5F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Alert</a:t>
            </a: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9305" y="2163086"/>
            <a:ext cx="412235" cy="4122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04171" y="3662592"/>
            <a:ext cx="1203727" cy="24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US" b="1" dirty="0">
                <a:solidFill>
                  <a:srgbClr val="F2F5F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Monitor</a:t>
            </a: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2279" y="2163086"/>
            <a:ext cx="412235" cy="4122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462411" y="3662592"/>
            <a:ext cx="1203727" cy="24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b="1" dirty="0">
                <a:solidFill>
                  <a:srgbClr val="F2F5F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Detect</a:t>
            </a:r>
          </a:p>
        </p:txBody>
      </p:sp>
      <p:sp>
        <p:nvSpPr>
          <p:cNvPr id="11" name="Text 5"/>
          <p:cNvSpPr/>
          <p:nvPr/>
        </p:nvSpPr>
        <p:spPr>
          <a:xfrm>
            <a:off x="449610" y="4464844"/>
            <a:ext cx="8244780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C.A.R.E's dual-verification technology cross-checks sensor data before triggering an alert - </a:t>
            </a:r>
            <a:r>
              <a:rPr lang="en-US" sz="14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minimizing false alarms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while ensuring no child or pet is ever missed.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8884" y="340668"/>
            <a:ext cx="2814638" cy="35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Why Choose C.A.R.E?</a:t>
            </a:r>
          </a:p>
        </p:txBody>
      </p:sp>
      <p:sp>
        <p:nvSpPr>
          <p:cNvPr id="4" name="Text 1"/>
          <p:cNvSpPr/>
          <p:nvPr/>
        </p:nvSpPr>
        <p:spPr>
          <a:xfrm>
            <a:off x="3808884" y="818108"/>
            <a:ext cx="495523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Making every car safer with smart technology</a:t>
            </a:r>
            <a:r>
              <a:rPr lang="en-US" sz="1400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en-US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8884" y="1036141"/>
            <a:ext cx="217066" cy="2170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08884" y="1357015"/>
            <a:ext cx="1356717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Plug &amp; Play USB</a:t>
            </a:r>
            <a:endParaRPr lang="en-US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808884" y="1583159"/>
            <a:ext cx="495523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Connects instantly to any standard USB port. No technician, no tools, no hassle.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8884" y="1873895"/>
            <a:ext cx="217066" cy="2170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08884" y="2194768"/>
            <a:ext cx="1386111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Works</a:t>
            </a: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1400" b="1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 Any Vehicle</a:t>
            </a:r>
          </a:p>
        </p:txBody>
      </p:sp>
      <p:sp>
        <p:nvSpPr>
          <p:cNvPr id="10" name="Text 5"/>
          <p:cNvSpPr/>
          <p:nvPr/>
        </p:nvSpPr>
        <p:spPr>
          <a:xfrm>
            <a:off x="3808884" y="2420913"/>
            <a:ext cx="495523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Compatible with all makes and models - from compact cars to minivans and SUVs.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8884" y="2711648"/>
            <a:ext cx="217066" cy="2170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08884" y="3032522"/>
            <a:ext cx="1356717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350"/>
              </a:lnSpc>
            </a:pPr>
            <a:r>
              <a:rPr lang="en-US" sz="1400" b="1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Dual Verification</a:t>
            </a:r>
          </a:p>
        </p:txBody>
      </p:sp>
      <p:sp>
        <p:nvSpPr>
          <p:cNvPr id="13" name="Text 7"/>
          <p:cNvSpPr/>
          <p:nvPr/>
        </p:nvSpPr>
        <p:spPr>
          <a:xfrm>
            <a:off x="3808884" y="3258666"/>
            <a:ext cx="495523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Cross-checks multiple sensors before alerting - reducing false alarms dramatically.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8884" y="3549402"/>
            <a:ext cx="217066" cy="21706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08884" y="3870275"/>
            <a:ext cx="144586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Kids &amp; Pets Protected</a:t>
            </a:r>
          </a:p>
        </p:txBody>
      </p:sp>
      <p:sp>
        <p:nvSpPr>
          <p:cNvPr id="16" name="Text 9"/>
          <p:cNvSpPr/>
          <p:nvPr/>
        </p:nvSpPr>
        <p:spPr>
          <a:xfrm>
            <a:off x="3808884" y="4096420"/>
            <a:ext cx="495523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Detects any living presence in the back seat - children, infants, and animals alike.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808884" y="4314453"/>
            <a:ext cx="4955232" cy="488305"/>
          </a:xfrm>
          <a:prstGeom prst="roundRect">
            <a:avLst>
              <a:gd name="adj" fmla="val 9336"/>
            </a:avLst>
          </a:prstGeom>
          <a:solidFill>
            <a:srgbClr val="7BA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7379" y="4455096"/>
            <a:ext cx="135657" cy="1084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161532" y="4424586"/>
            <a:ext cx="4494088" cy="24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C.A.R.E is the affordable, universal safety solution every parent and pet owner deserves - ready to use straight out of the box.</a:t>
            </a:r>
            <a:endParaRPr lang="en-US" sz="1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414</Words>
  <Application>Microsoft Office PowerPoint</Application>
  <PresentationFormat>‫הצגה על המסך (16:9)</PresentationFormat>
  <Paragraphs>47</Paragraphs>
  <Slides>6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1" baseType="lpstr">
      <vt:lpstr>ADLaM Display</vt:lpstr>
      <vt:lpstr>Arial</vt:lpstr>
      <vt:lpstr>Geist Bold</vt:lpstr>
      <vt:lpstr>Geist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לינוי קסוקר</dc:creator>
  <cp:lastModifiedBy>Linoy Kasuker</cp:lastModifiedBy>
  <cp:revision>3</cp:revision>
  <dcterms:created xsi:type="dcterms:W3CDTF">2026-05-11T11:26:57Z</dcterms:created>
  <dcterms:modified xsi:type="dcterms:W3CDTF">2026-05-11T13:23:32Z</dcterms:modified>
</cp:coreProperties>
</file>